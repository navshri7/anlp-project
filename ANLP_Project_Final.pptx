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1" r:id="rId16"/>
  </p:sldIdLst>
  <p:sldSz cx="14630400" cy="8229600"/>
  <p:notesSz cx="8229600" cy="14630400"/>
  <p:embeddedFontLst>
    <p:embeddedFont>
      <p:font typeface="Calibri" panose="020F0502020204030204" pitchFamily="34" charset="0"/>
      <p:regular r:id="rId18"/>
      <p:bold r:id="rId19"/>
      <p:italic r:id="rId20"/>
      <p:boldItalic r:id="rId21"/>
    </p:embeddedFont>
    <p:embeddedFont>
      <p:font typeface="Quattrocento"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42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17025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24124" y="2055376"/>
            <a:ext cx="7468553" cy="2112050"/>
          </a:xfrm>
          <a:prstGeom prst="rect">
            <a:avLst/>
          </a:prstGeom>
          <a:noFill/>
          <a:ln/>
        </p:spPr>
        <p:txBody>
          <a:bodyPr wrap="square" lIns="0" tIns="0" rIns="0" bIns="0" rtlCol="0" anchor="t"/>
          <a:lstStyle/>
          <a:p>
            <a:pPr marL="0" indent="0" algn="l">
              <a:lnSpc>
                <a:spcPts val="5500"/>
              </a:lnSpc>
              <a:buNone/>
            </a:pPr>
            <a:r>
              <a:rPr lang="en-US" sz="4400" dirty="0">
                <a:solidFill>
                  <a:srgbClr val="FFD9BE"/>
                </a:solidFill>
                <a:latin typeface="Quattrocento" pitchFamily="34" charset="0"/>
                <a:ea typeface="Quattrocento" pitchFamily="34" charset="-122"/>
                <a:cs typeface="Quattrocento" pitchFamily="34" charset="-120"/>
              </a:rPr>
              <a:t>Adaptive Memory-based Transformer for Low-Resource Dialect Translation</a:t>
            </a:r>
            <a:endParaRPr lang="en-US" sz="4400" dirty="0"/>
          </a:p>
        </p:txBody>
      </p:sp>
      <p:sp>
        <p:nvSpPr>
          <p:cNvPr id="4" name="Text 1"/>
          <p:cNvSpPr/>
          <p:nvPr/>
        </p:nvSpPr>
        <p:spPr>
          <a:xfrm>
            <a:off x="6324124" y="4526399"/>
            <a:ext cx="7468553" cy="612458"/>
          </a:xfrm>
          <a:prstGeom prst="rect">
            <a:avLst/>
          </a:prstGeom>
          <a:noFill/>
          <a:ln/>
        </p:spPr>
        <p:txBody>
          <a:bodyPr wrap="square" lIns="0" tIns="0" rIns="0" bIns="0" rtlCol="0" anchor="t"/>
          <a:lstStyle/>
          <a:p>
            <a:pPr marL="0" indent="0" algn="l">
              <a:lnSpc>
                <a:spcPts val="2400"/>
              </a:lnSpc>
              <a:buNone/>
            </a:pPr>
            <a:r>
              <a:rPr lang="en-US" sz="1500" dirty="0">
                <a:solidFill>
                  <a:srgbClr val="F9EEE7"/>
                </a:solidFill>
                <a:latin typeface="Quattrocento" pitchFamily="34" charset="0"/>
                <a:ea typeface="Quattrocento" pitchFamily="34" charset="-122"/>
                <a:cs typeface="Quattrocento" pitchFamily="34" charset="-120"/>
              </a:rPr>
              <a:t>Enhancing neural machine translation from Barendri Bangla (low-resource dialect) to Standard Bangla using a memory-augmented Transformer.</a:t>
            </a:r>
            <a:endParaRPr lang="en-US" sz="1500" dirty="0"/>
          </a:p>
        </p:txBody>
      </p:sp>
      <p:sp>
        <p:nvSpPr>
          <p:cNvPr id="5" name="Text 2"/>
          <p:cNvSpPr/>
          <p:nvPr/>
        </p:nvSpPr>
        <p:spPr>
          <a:xfrm>
            <a:off x="6324124" y="5408057"/>
            <a:ext cx="7468553" cy="766048"/>
          </a:xfrm>
          <a:prstGeom prst="rect">
            <a:avLst/>
          </a:prstGeom>
          <a:noFill/>
          <a:ln/>
        </p:spPr>
        <p:txBody>
          <a:bodyPr wrap="square" lIns="0" tIns="0" rIns="0" bIns="0" rtlCol="0" anchor="t"/>
          <a:lstStyle/>
          <a:p>
            <a:pPr marL="0" indent="0" algn="l">
              <a:lnSpc>
                <a:spcPts val="3000"/>
              </a:lnSpc>
              <a:buNone/>
            </a:pPr>
            <a:r>
              <a:rPr lang="en-US" sz="1850" dirty="0">
                <a:solidFill>
                  <a:srgbClr val="F9EEE7"/>
                </a:solidFill>
                <a:latin typeface="Quattrocento" pitchFamily="34" charset="0"/>
                <a:ea typeface="Quattrocento" pitchFamily="34" charset="-122"/>
                <a:cs typeface="Quattrocento" pitchFamily="34" charset="-120"/>
              </a:rPr>
              <a:t>Authors: Navya Shrivastava (2023114019) · B. Vamsha Vardhan Reddy (2024701028) · Saswata Bose (2023114004)</a:t>
            </a:r>
            <a:endParaRPr lang="en-US" sz="1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37724" y="1710214"/>
            <a:ext cx="9103043" cy="704017"/>
          </a:xfrm>
          <a:prstGeom prst="rect">
            <a:avLst/>
          </a:prstGeom>
          <a:noFill/>
          <a:ln/>
        </p:spPr>
        <p:txBody>
          <a:bodyPr wrap="none" lIns="0" tIns="0" rIns="0" bIns="0" rtlCol="0" anchor="t"/>
          <a:lstStyle/>
          <a:p>
            <a:pPr marL="0" indent="0" algn="l">
              <a:lnSpc>
                <a:spcPts val="5500"/>
              </a:lnSpc>
              <a:buNone/>
            </a:pPr>
            <a:r>
              <a:rPr lang="en-US" sz="4400" dirty="0">
                <a:solidFill>
                  <a:srgbClr val="FFD9BE"/>
                </a:solidFill>
                <a:latin typeface="Quattrocento" pitchFamily="34" charset="0"/>
                <a:ea typeface="Quattrocento" pitchFamily="34" charset="-122"/>
                <a:cs typeface="Quattrocento" pitchFamily="34" charset="-120"/>
              </a:rPr>
              <a:t>The Challenge of Dialect Translation</a:t>
            </a:r>
            <a:endParaRPr lang="en-US" sz="4400" dirty="0"/>
          </a:p>
        </p:txBody>
      </p:sp>
      <p:sp>
        <p:nvSpPr>
          <p:cNvPr id="3" name="Text 1"/>
          <p:cNvSpPr/>
          <p:nvPr/>
        </p:nvSpPr>
        <p:spPr>
          <a:xfrm>
            <a:off x="837724" y="2988588"/>
            <a:ext cx="7539395" cy="1532096"/>
          </a:xfrm>
          <a:prstGeom prst="rect">
            <a:avLst/>
          </a:prstGeom>
          <a:noFill/>
          <a:ln/>
        </p:spPr>
        <p:txBody>
          <a:bodyPr wrap="square" lIns="0" tIns="0" rIns="0" bIns="0" rtlCol="0" anchor="t"/>
          <a:lstStyle/>
          <a:p>
            <a:pPr marL="0" indent="0" algn="l">
              <a:lnSpc>
                <a:spcPts val="3000"/>
              </a:lnSpc>
              <a:buNone/>
            </a:pPr>
            <a:r>
              <a:rPr lang="en-US" sz="1850" dirty="0">
                <a:solidFill>
                  <a:srgbClr val="F9EEE7"/>
                </a:solidFill>
                <a:latin typeface="Quattrocento" pitchFamily="34" charset="0"/>
                <a:ea typeface="Quattrocento" pitchFamily="34" charset="-122"/>
                <a:cs typeface="Quattrocento" pitchFamily="34" charset="-120"/>
              </a:rPr>
              <a:t>Bangla ranks among the world’s most spoken languages, yet many regional dialects (e.g., Barendri, Chittagong) have scant parallel corpora. Standard MT systems fail on rare tokens, phonetic shifts, and morphological variants.</a:t>
            </a:r>
            <a:endParaRPr lang="en-US" sz="1850" dirty="0"/>
          </a:p>
        </p:txBody>
      </p:sp>
      <p:sp>
        <p:nvSpPr>
          <p:cNvPr id="4" name="Text 2"/>
          <p:cNvSpPr/>
          <p:nvPr/>
        </p:nvSpPr>
        <p:spPr>
          <a:xfrm>
            <a:off x="837724" y="4736068"/>
            <a:ext cx="7539395"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Two standards: Kolkata (India) vs. Dhaka (Bangladesh)</a:t>
            </a:r>
            <a:endParaRPr lang="en-US" sz="1850" dirty="0"/>
          </a:p>
        </p:txBody>
      </p:sp>
      <p:sp>
        <p:nvSpPr>
          <p:cNvPr id="5" name="Text 3"/>
          <p:cNvSpPr/>
          <p:nvPr/>
        </p:nvSpPr>
        <p:spPr>
          <a:xfrm>
            <a:off x="837724" y="5202793"/>
            <a:ext cx="7539395" cy="766048"/>
          </a:xfrm>
          <a:prstGeom prst="rect">
            <a:avLst/>
          </a:prstGeom>
          <a:noFill/>
          <a:ln/>
        </p:spPr>
        <p:txBody>
          <a:bodyPr wrap="square" lIns="0" tIns="0" rIns="0" bIns="0" rtlCol="0" anchor="t"/>
          <a:lstStyle/>
          <a:p>
            <a:pPr marL="342900" indent="-342900" algn="l">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Low-resource issues: token sparsity, orthographic phonetic reflections, syntax shifts</a:t>
            </a:r>
            <a:endParaRPr lang="en-US" sz="1850" dirty="0"/>
          </a:p>
        </p:txBody>
      </p:sp>
      <p:sp>
        <p:nvSpPr>
          <p:cNvPr id="6" name="Text 4"/>
          <p:cNvSpPr/>
          <p:nvPr/>
        </p:nvSpPr>
        <p:spPr>
          <a:xfrm>
            <a:off x="837724" y="6052542"/>
            <a:ext cx="7539395"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Focus: Barendri (low divergence) vs. Chittagong (high divergence)</a:t>
            </a:r>
            <a:endParaRPr lang="en-US" sz="1850" dirty="0"/>
          </a:p>
        </p:txBody>
      </p:sp>
      <p:pic>
        <p:nvPicPr>
          <p:cNvPr id="7" name="Image 0" descr="preencoded.png"/>
          <p:cNvPicPr>
            <a:picLocks noChangeAspect="1"/>
          </p:cNvPicPr>
          <p:nvPr/>
        </p:nvPicPr>
        <p:blipFill>
          <a:blip r:embed="rId3"/>
          <a:stretch>
            <a:fillRect/>
          </a:stretch>
        </p:blipFill>
        <p:spPr>
          <a:xfrm>
            <a:off x="8968621" y="3042404"/>
            <a:ext cx="2286000" cy="2286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37724" y="1135737"/>
            <a:ext cx="6114931" cy="704017"/>
          </a:xfrm>
          <a:prstGeom prst="rect">
            <a:avLst/>
          </a:prstGeom>
          <a:noFill/>
          <a:ln/>
        </p:spPr>
        <p:txBody>
          <a:bodyPr wrap="none" lIns="0" tIns="0" rIns="0" bIns="0" rtlCol="0" anchor="t"/>
          <a:lstStyle/>
          <a:p>
            <a:pPr marL="0" indent="0" algn="l">
              <a:lnSpc>
                <a:spcPts val="5500"/>
              </a:lnSpc>
              <a:buNone/>
            </a:pPr>
            <a:r>
              <a:rPr lang="en-US" sz="4400" dirty="0">
                <a:solidFill>
                  <a:srgbClr val="FFD9BE"/>
                </a:solidFill>
                <a:latin typeface="Quattrocento" pitchFamily="34" charset="0"/>
                <a:ea typeface="Quattrocento" pitchFamily="34" charset="-122"/>
                <a:cs typeface="Quattrocento" pitchFamily="34" charset="-120"/>
              </a:rPr>
              <a:t>Why Adaptive Memory?</a:t>
            </a:r>
            <a:endParaRPr lang="en-US" sz="4400" dirty="0"/>
          </a:p>
        </p:txBody>
      </p:sp>
      <p:sp>
        <p:nvSpPr>
          <p:cNvPr id="3" name="Text 1"/>
          <p:cNvSpPr/>
          <p:nvPr/>
        </p:nvSpPr>
        <p:spPr>
          <a:xfrm>
            <a:off x="837724" y="2414111"/>
            <a:ext cx="5508546" cy="1915120"/>
          </a:xfrm>
          <a:prstGeom prst="rect">
            <a:avLst/>
          </a:prstGeom>
          <a:noFill/>
          <a:ln/>
        </p:spPr>
        <p:txBody>
          <a:bodyPr wrap="square" lIns="0" tIns="0" rIns="0" bIns="0" rtlCol="0" anchor="t"/>
          <a:lstStyle/>
          <a:p>
            <a:pPr marL="0" indent="0" algn="l">
              <a:lnSpc>
                <a:spcPts val="3000"/>
              </a:lnSpc>
              <a:buNone/>
            </a:pPr>
            <a:r>
              <a:rPr lang="en-US" sz="1850" dirty="0">
                <a:solidFill>
                  <a:srgbClr val="F9EEE7"/>
                </a:solidFill>
                <a:latin typeface="Quattrocento" pitchFamily="34" charset="0"/>
                <a:ea typeface="Quattrocento" pitchFamily="34" charset="-122"/>
                <a:cs typeface="Quattrocento" pitchFamily="34" charset="-120"/>
              </a:rPr>
              <a:t>Memory augmentation preserves and recalls rare lexical and phonetic patterns that standard sequence models forget during training. This is essential for dialects where a few low-frequency alternations drive meaning differences.</a:t>
            </a:r>
            <a:endParaRPr lang="en-US" sz="1850" dirty="0"/>
          </a:p>
        </p:txBody>
      </p:sp>
      <p:sp>
        <p:nvSpPr>
          <p:cNvPr id="4" name="Text 2"/>
          <p:cNvSpPr/>
          <p:nvPr/>
        </p:nvSpPr>
        <p:spPr>
          <a:xfrm>
            <a:off x="837724" y="4544616"/>
            <a:ext cx="5508546" cy="766048"/>
          </a:xfrm>
          <a:prstGeom prst="rect">
            <a:avLst/>
          </a:prstGeom>
          <a:noFill/>
          <a:ln/>
        </p:spPr>
        <p:txBody>
          <a:bodyPr wrap="square" lIns="0" tIns="0" rIns="0" bIns="0" rtlCol="0" anchor="t"/>
          <a:lstStyle/>
          <a:p>
            <a:pPr marL="342900" indent="-342900" algn="l">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Goal: retain rare tokens &amp; morphological patterns</a:t>
            </a:r>
            <a:endParaRPr lang="en-US" sz="1850" dirty="0"/>
          </a:p>
        </p:txBody>
      </p:sp>
      <p:sp>
        <p:nvSpPr>
          <p:cNvPr id="5" name="Text 3"/>
          <p:cNvSpPr/>
          <p:nvPr/>
        </p:nvSpPr>
        <p:spPr>
          <a:xfrm>
            <a:off x="837724" y="5394365"/>
            <a:ext cx="5508546" cy="766048"/>
          </a:xfrm>
          <a:prstGeom prst="rect">
            <a:avLst/>
          </a:prstGeom>
          <a:noFill/>
          <a:ln/>
        </p:spPr>
        <p:txBody>
          <a:bodyPr wrap="square" lIns="0" tIns="0" rIns="0" bIns="0" rtlCol="0" anchor="t"/>
          <a:lstStyle/>
          <a:p>
            <a:pPr marL="342900" indent="-342900" algn="l">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Approach: external memory bank integrated into Transformer decoding</a:t>
            </a:r>
            <a:endParaRPr lang="en-US" sz="1850" dirty="0"/>
          </a:p>
        </p:txBody>
      </p:sp>
      <p:sp>
        <p:nvSpPr>
          <p:cNvPr id="6" name="Text 4"/>
          <p:cNvSpPr/>
          <p:nvPr/>
        </p:nvSpPr>
        <p:spPr>
          <a:xfrm>
            <a:off x="837724" y="6244114"/>
            <a:ext cx="5508546" cy="766048"/>
          </a:xfrm>
          <a:prstGeom prst="rect">
            <a:avLst/>
          </a:prstGeom>
          <a:noFill/>
          <a:ln/>
        </p:spPr>
        <p:txBody>
          <a:bodyPr wrap="square" lIns="0" tIns="0" rIns="0" bIns="0" rtlCol="0" anchor="t"/>
          <a:lstStyle/>
          <a:p>
            <a:pPr marL="342900" indent="-342900" algn="l">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Target: improve translation fidelity for Barendri and test on Chittagong</a:t>
            </a:r>
            <a:endParaRPr lang="en-US" sz="1850" dirty="0"/>
          </a:p>
        </p:txBody>
      </p:sp>
      <p:pic>
        <p:nvPicPr>
          <p:cNvPr id="7" name="Image 0" descr="preencoded.png"/>
          <p:cNvPicPr>
            <a:picLocks noChangeAspect="1"/>
          </p:cNvPicPr>
          <p:nvPr/>
        </p:nvPicPr>
        <p:blipFill>
          <a:blip r:embed="rId3"/>
          <a:stretch>
            <a:fillRect/>
          </a:stretch>
        </p:blipFill>
        <p:spPr>
          <a:xfrm>
            <a:off x="6937772" y="2467928"/>
            <a:ext cx="2286000" cy="2286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37724" y="1614011"/>
            <a:ext cx="11524059" cy="704017"/>
          </a:xfrm>
          <a:prstGeom prst="rect">
            <a:avLst/>
          </a:prstGeom>
          <a:noFill/>
          <a:ln/>
        </p:spPr>
        <p:txBody>
          <a:bodyPr wrap="none" lIns="0" tIns="0" rIns="0" bIns="0" rtlCol="0" anchor="t"/>
          <a:lstStyle/>
          <a:p>
            <a:pPr marL="0" indent="0" algn="l">
              <a:lnSpc>
                <a:spcPts val="5500"/>
              </a:lnSpc>
              <a:buNone/>
            </a:pPr>
            <a:r>
              <a:rPr lang="en-US" sz="4400" dirty="0">
                <a:solidFill>
                  <a:srgbClr val="FFD9BE"/>
                </a:solidFill>
                <a:latin typeface="Quattrocento" pitchFamily="34" charset="0"/>
                <a:ea typeface="Quattrocento" pitchFamily="34" charset="-122"/>
                <a:cs typeface="Quattrocento" pitchFamily="34" charset="-120"/>
              </a:rPr>
              <a:t>Related Work — Positioning Our Contribution</a:t>
            </a:r>
            <a:endParaRPr lang="en-US" sz="4400" dirty="0"/>
          </a:p>
        </p:txBody>
      </p:sp>
      <p:sp>
        <p:nvSpPr>
          <p:cNvPr id="3" name="Text 1"/>
          <p:cNvSpPr/>
          <p:nvPr/>
        </p:nvSpPr>
        <p:spPr>
          <a:xfrm>
            <a:off x="837724" y="2892385"/>
            <a:ext cx="6185535" cy="383024"/>
          </a:xfrm>
          <a:prstGeom prst="rect">
            <a:avLst/>
          </a:prstGeom>
          <a:noFill/>
          <a:ln/>
        </p:spPr>
        <p:txBody>
          <a:bodyPr wrap="none" lIns="0" tIns="0" rIns="0" bIns="0" rtlCol="0" anchor="t"/>
          <a:lstStyle/>
          <a:p>
            <a:pPr marL="0" indent="0" algn="l">
              <a:lnSpc>
                <a:spcPts val="3000"/>
              </a:lnSpc>
              <a:buNone/>
            </a:pPr>
            <a:r>
              <a:rPr lang="en-US" sz="1850" dirty="0">
                <a:solidFill>
                  <a:srgbClr val="F9EEE7"/>
                </a:solidFill>
                <a:latin typeface="Quattrocento" pitchFamily="34" charset="0"/>
                <a:ea typeface="Quattrocento" pitchFamily="34" charset="-122"/>
                <a:cs typeface="Quattrocento" pitchFamily="34" charset="-120"/>
              </a:rPr>
              <a:t>We build on three areas:</a:t>
            </a:r>
            <a:endParaRPr lang="en-US" sz="1850" dirty="0"/>
          </a:p>
        </p:txBody>
      </p:sp>
      <p:sp>
        <p:nvSpPr>
          <p:cNvPr id="4" name="Text 2"/>
          <p:cNvSpPr/>
          <p:nvPr/>
        </p:nvSpPr>
        <p:spPr>
          <a:xfrm>
            <a:off x="837724" y="3490793"/>
            <a:ext cx="6185535" cy="766048"/>
          </a:xfrm>
          <a:prstGeom prst="rect">
            <a:avLst/>
          </a:prstGeom>
          <a:noFill/>
          <a:ln/>
        </p:spPr>
        <p:txBody>
          <a:bodyPr wrap="square" lIns="0" tIns="0" rIns="0" bIns="0" rtlCol="0" anchor="t"/>
          <a:lstStyle/>
          <a:p>
            <a:pPr marL="342900" indent="-342900" algn="l">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Low-resource MT: back-translation, multilingual pretraining (Hoang 2018; Conneau 2019)</a:t>
            </a:r>
            <a:endParaRPr lang="en-US" sz="1850" dirty="0"/>
          </a:p>
        </p:txBody>
      </p:sp>
      <p:sp>
        <p:nvSpPr>
          <p:cNvPr id="5" name="Text 3"/>
          <p:cNvSpPr/>
          <p:nvPr/>
        </p:nvSpPr>
        <p:spPr>
          <a:xfrm>
            <a:off x="837724" y="4340543"/>
            <a:ext cx="6185535" cy="766048"/>
          </a:xfrm>
          <a:prstGeom prst="rect">
            <a:avLst/>
          </a:prstGeom>
          <a:noFill/>
          <a:ln/>
        </p:spPr>
        <p:txBody>
          <a:bodyPr wrap="square" lIns="0" tIns="0" rIns="0" bIns="0" rtlCol="0" anchor="t"/>
          <a:lstStyle/>
          <a:p>
            <a:pPr marL="342900" indent="-342900" algn="l">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Dialect datasets: Vashantor and regional corpora (Hasan 2023; Chowdhury 2020)</a:t>
            </a:r>
            <a:endParaRPr lang="en-US" sz="1850" dirty="0"/>
          </a:p>
        </p:txBody>
      </p:sp>
      <p:sp>
        <p:nvSpPr>
          <p:cNvPr id="6" name="Text 4"/>
          <p:cNvSpPr/>
          <p:nvPr/>
        </p:nvSpPr>
        <p:spPr>
          <a:xfrm>
            <a:off x="837724" y="5190292"/>
            <a:ext cx="6185535" cy="766048"/>
          </a:xfrm>
          <a:prstGeom prst="rect">
            <a:avLst/>
          </a:prstGeom>
          <a:noFill/>
          <a:ln/>
        </p:spPr>
        <p:txBody>
          <a:bodyPr wrap="square" lIns="0" tIns="0" rIns="0" bIns="0" rtlCol="0" anchor="t"/>
          <a:lstStyle/>
          <a:p>
            <a:pPr marL="342900" indent="-342900" algn="l">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Memory in NMT: Neural Turing Machines, M‑NMT for rare words (Graves 2014; Wang 2017)</a:t>
            </a:r>
            <a:endParaRPr lang="en-US" sz="1850" dirty="0"/>
          </a:p>
        </p:txBody>
      </p:sp>
      <p:pic>
        <p:nvPicPr>
          <p:cNvPr id="7" name="Image 0" descr="preencoded.png"/>
          <p:cNvPicPr>
            <a:picLocks noChangeAspect="1"/>
          </p:cNvPicPr>
          <p:nvPr/>
        </p:nvPicPr>
        <p:blipFill>
          <a:blip r:embed="rId3"/>
          <a:stretch>
            <a:fillRect/>
          </a:stretch>
        </p:blipFill>
        <p:spPr>
          <a:xfrm>
            <a:off x="7614761" y="2946202"/>
            <a:ext cx="2286000" cy="2286000"/>
          </a:xfrm>
          <a:prstGeom prst="rect">
            <a:avLst/>
          </a:prstGeom>
        </p:spPr>
      </p:pic>
      <p:sp>
        <p:nvSpPr>
          <p:cNvPr id="8" name="Text 5"/>
          <p:cNvSpPr/>
          <p:nvPr/>
        </p:nvSpPr>
        <p:spPr>
          <a:xfrm>
            <a:off x="837724" y="6309241"/>
            <a:ext cx="12954952" cy="306229"/>
          </a:xfrm>
          <a:prstGeom prst="rect">
            <a:avLst/>
          </a:prstGeom>
          <a:noFill/>
          <a:ln/>
        </p:spPr>
        <p:txBody>
          <a:bodyPr wrap="none" lIns="0" tIns="0" rIns="0" bIns="0" rtlCol="0" anchor="t"/>
          <a:lstStyle/>
          <a:p>
            <a:pPr marL="0" indent="0" algn="l">
              <a:lnSpc>
                <a:spcPts val="2400"/>
              </a:lnSpc>
              <a:buNone/>
            </a:pPr>
            <a:r>
              <a:rPr lang="en-US" sz="1500" dirty="0">
                <a:solidFill>
                  <a:srgbClr val="F9EEE7"/>
                </a:solidFill>
                <a:latin typeface="Quattrocento" pitchFamily="34" charset="0"/>
                <a:ea typeface="Quattrocento" pitchFamily="34" charset="-122"/>
                <a:cs typeface="Quattrocento" pitchFamily="34" charset="-120"/>
              </a:rPr>
              <a:t>Gap: limited work on Indian Bangla dialects and comparative phonetic-distance studies informing memory design.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37724" y="1563291"/>
            <a:ext cx="10906363" cy="704017"/>
          </a:xfrm>
          <a:prstGeom prst="rect">
            <a:avLst/>
          </a:prstGeom>
          <a:noFill/>
          <a:ln/>
        </p:spPr>
        <p:txBody>
          <a:bodyPr wrap="none" lIns="0" tIns="0" rIns="0" bIns="0" rtlCol="0" anchor="t"/>
          <a:lstStyle/>
          <a:p>
            <a:pPr marL="0" indent="0" algn="l">
              <a:lnSpc>
                <a:spcPts val="5500"/>
              </a:lnSpc>
              <a:buNone/>
            </a:pPr>
            <a:r>
              <a:rPr lang="en-US" sz="4400" dirty="0">
                <a:solidFill>
                  <a:srgbClr val="FFD9BE"/>
                </a:solidFill>
                <a:latin typeface="Quattrocento" pitchFamily="34" charset="0"/>
                <a:ea typeface="Quattrocento" pitchFamily="34" charset="-122"/>
                <a:cs typeface="Quattrocento" pitchFamily="34" charset="-120"/>
              </a:rPr>
              <a:t>Curated Barendri–Standard Parallel Corpus</a:t>
            </a:r>
            <a:endParaRPr lang="en-US" sz="4400" dirty="0"/>
          </a:p>
        </p:txBody>
      </p:sp>
      <p:sp>
        <p:nvSpPr>
          <p:cNvPr id="3" name="Text 1"/>
          <p:cNvSpPr/>
          <p:nvPr/>
        </p:nvSpPr>
        <p:spPr>
          <a:xfrm>
            <a:off x="837724" y="2865596"/>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FFD9BE"/>
                </a:solidFill>
                <a:latin typeface="Quattrocento" pitchFamily="34" charset="0"/>
                <a:ea typeface="Quattrocento" pitchFamily="34" charset="-122"/>
                <a:cs typeface="Quattrocento" pitchFamily="34" charset="-120"/>
              </a:rPr>
              <a:t>Corpus Summary</a:t>
            </a:r>
            <a:endParaRPr lang="en-US" sz="2200" dirty="0"/>
          </a:p>
        </p:txBody>
      </p:sp>
      <p:sp>
        <p:nvSpPr>
          <p:cNvPr id="4" name="Text 2"/>
          <p:cNvSpPr/>
          <p:nvPr/>
        </p:nvSpPr>
        <p:spPr>
          <a:xfrm>
            <a:off x="837724" y="3456861"/>
            <a:ext cx="6185535"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Size: 5,050 sentence pairs (80/10/10 train/val/test)</a:t>
            </a:r>
            <a:endParaRPr lang="en-US" sz="1850" dirty="0"/>
          </a:p>
        </p:txBody>
      </p:sp>
      <p:sp>
        <p:nvSpPr>
          <p:cNvPr id="5" name="Text 3"/>
          <p:cNvSpPr/>
          <p:nvPr/>
        </p:nvSpPr>
        <p:spPr>
          <a:xfrm>
            <a:off x="837724" y="3923586"/>
            <a:ext cx="6185535"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Avg length: 8.5 words/sentence</a:t>
            </a:r>
            <a:endParaRPr lang="en-US" sz="1850" dirty="0"/>
          </a:p>
        </p:txBody>
      </p:sp>
      <p:sp>
        <p:nvSpPr>
          <p:cNvPr id="6" name="Text 4"/>
          <p:cNvSpPr/>
          <p:nvPr/>
        </p:nvSpPr>
        <p:spPr>
          <a:xfrm>
            <a:off x="837724" y="4390311"/>
            <a:ext cx="6185535"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Vocab: Standard 15K · Barendri 14K</a:t>
            </a:r>
            <a:endParaRPr lang="en-US" sz="1850" dirty="0"/>
          </a:p>
        </p:txBody>
      </p:sp>
      <p:sp>
        <p:nvSpPr>
          <p:cNvPr id="7" name="Text 5"/>
          <p:cNvSpPr/>
          <p:nvPr/>
        </p:nvSpPr>
        <p:spPr>
          <a:xfrm>
            <a:off x="837724" y="4857036"/>
            <a:ext cx="6185535" cy="766048"/>
          </a:xfrm>
          <a:prstGeom prst="rect">
            <a:avLst/>
          </a:prstGeom>
          <a:noFill/>
          <a:ln/>
        </p:spPr>
        <p:txBody>
          <a:bodyPr wrap="square" lIns="0" tIns="0" rIns="0" bIns="0" rtlCol="0" anchor="t"/>
          <a:lstStyle/>
          <a:p>
            <a:pPr marL="342900" indent="-342900" algn="l">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Sources: native elicitations, regional literature, adapted texts</a:t>
            </a:r>
            <a:endParaRPr lang="en-US" sz="1850" dirty="0"/>
          </a:p>
        </p:txBody>
      </p:sp>
      <p:sp>
        <p:nvSpPr>
          <p:cNvPr id="8" name="Text 6"/>
          <p:cNvSpPr/>
          <p:nvPr/>
        </p:nvSpPr>
        <p:spPr>
          <a:xfrm>
            <a:off x="837724" y="5838468"/>
            <a:ext cx="6185535" cy="612458"/>
          </a:xfrm>
          <a:prstGeom prst="rect">
            <a:avLst/>
          </a:prstGeom>
          <a:noFill/>
          <a:ln/>
        </p:spPr>
        <p:txBody>
          <a:bodyPr wrap="square" lIns="0" tIns="0" rIns="0" bIns="0" rtlCol="0" anchor="t"/>
          <a:lstStyle/>
          <a:p>
            <a:pPr marL="0" indent="0" algn="l">
              <a:lnSpc>
                <a:spcPts val="2400"/>
              </a:lnSpc>
              <a:buNone/>
            </a:pPr>
            <a:r>
              <a:rPr lang="en-US" sz="1500" dirty="0">
                <a:solidFill>
                  <a:srgbClr val="F9EEE7"/>
                </a:solidFill>
                <a:latin typeface="Quattrocento" pitchFamily="34" charset="0"/>
                <a:ea typeface="Quattrocento" pitchFamily="34" charset="-122"/>
                <a:cs typeface="Quattrocento" pitchFamily="34" charset="-120"/>
              </a:rPr>
              <a:t>Data released in TSV/JSON for reproducibility; selected examples shown next.</a:t>
            </a:r>
            <a:endParaRPr lang="en-US" sz="1500" dirty="0"/>
          </a:p>
        </p:txBody>
      </p:sp>
      <p:pic>
        <p:nvPicPr>
          <p:cNvPr id="9" name="Image 0" descr="preencoded.png"/>
          <p:cNvPicPr>
            <a:picLocks noChangeAspect="1"/>
          </p:cNvPicPr>
          <p:nvPr/>
        </p:nvPicPr>
        <p:blipFill>
          <a:blip r:embed="rId3"/>
          <a:stretch>
            <a:fillRect/>
          </a:stretch>
        </p:blipFill>
        <p:spPr>
          <a:xfrm>
            <a:off x="7614761" y="2895481"/>
            <a:ext cx="2286000" cy="2286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37724" y="1811893"/>
            <a:ext cx="7396162" cy="704017"/>
          </a:xfrm>
          <a:prstGeom prst="rect">
            <a:avLst/>
          </a:prstGeom>
          <a:noFill/>
          <a:ln/>
        </p:spPr>
        <p:txBody>
          <a:bodyPr wrap="none" lIns="0" tIns="0" rIns="0" bIns="0" rtlCol="0" anchor="t"/>
          <a:lstStyle/>
          <a:p>
            <a:pPr marL="0" indent="0" algn="l">
              <a:lnSpc>
                <a:spcPts val="5500"/>
              </a:lnSpc>
              <a:buNone/>
            </a:pPr>
            <a:r>
              <a:rPr lang="en-US" sz="4400" dirty="0">
                <a:solidFill>
                  <a:srgbClr val="FFD9BE"/>
                </a:solidFill>
                <a:latin typeface="Quattrocento" pitchFamily="34" charset="0"/>
                <a:ea typeface="Quattrocento" pitchFamily="34" charset="-122"/>
                <a:cs typeface="Quattrocento" pitchFamily="34" charset="-120"/>
              </a:rPr>
              <a:t>Illustrative Parallel Sentences</a:t>
            </a:r>
            <a:endParaRPr lang="en-US" sz="4400" dirty="0"/>
          </a:p>
        </p:txBody>
      </p:sp>
      <p:sp>
        <p:nvSpPr>
          <p:cNvPr id="3" name="Text 1"/>
          <p:cNvSpPr/>
          <p:nvPr/>
        </p:nvSpPr>
        <p:spPr>
          <a:xfrm>
            <a:off x="837724" y="3090267"/>
            <a:ext cx="7539395" cy="766048"/>
          </a:xfrm>
          <a:prstGeom prst="rect">
            <a:avLst/>
          </a:prstGeom>
          <a:noFill/>
          <a:ln/>
        </p:spPr>
        <p:txBody>
          <a:bodyPr wrap="square" lIns="0" tIns="0" rIns="0" bIns="0" rtlCol="0" anchor="t"/>
          <a:lstStyle/>
          <a:p>
            <a:pPr marL="0" indent="0" algn="l">
              <a:lnSpc>
                <a:spcPts val="3000"/>
              </a:lnSpc>
              <a:buNone/>
            </a:pPr>
            <a:r>
              <a:rPr lang="en-US" sz="1850" b="1" dirty="0">
                <a:solidFill>
                  <a:srgbClr val="F9EEE7"/>
                </a:solidFill>
                <a:latin typeface="Quattrocento" pitchFamily="34" charset="0"/>
                <a:ea typeface="Quattrocento" pitchFamily="34" charset="-122"/>
                <a:cs typeface="Quattrocento" pitchFamily="34" charset="-120"/>
              </a:rPr>
              <a:t>Example 1</a:t>
            </a:r>
            <a:r>
              <a:rPr lang="en-US" sz="1850" dirty="0">
                <a:solidFill>
                  <a:srgbClr val="F9EEE7"/>
                </a:solidFill>
                <a:latin typeface="Quattrocento" pitchFamily="34" charset="0"/>
                <a:ea typeface="Quattrocento" pitchFamily="34" charset="-122"/>
                <a:cs typeface="Quattrocento" pitchFamily="34" charset="-120"/>
              </a:rPr>
              <a:t> — Standard: রাই মশাই খুব খুশি হয়ে বলল।Barendri: রাই মশাই খুব খুশি হই কহিলি। (Lexical: বলল → কহিলি)</a:t>
            </a:r>
            <a:endParaRPr lang="en-US" sz="1850" dirty="0"/>
          </a:p>
        </p:txBody>
      </p:sp>
      <p:sp>
        <p:nvSpPr>
          <p:cNvPr id="4" name="Text 2"/>
          <p:cNvSpPr/>
          <p:nvPr/>
        </p:nvSpPr>
        <p:spPr>
          <a:xfrm>
            <a:off x="837724" y="4071699"/>
            <a:ext cx="7539395" cy="1149072"/>
          </a:xfrm>
          <a:prstGeom prst="rect">
            <a:avLst/>
          </a:prstGeom>
          <a:noFill/>
          <a:ln/>
        </p:spPr>
        <p:txBody>
          <a:bodyPr wrap="square" lIns="0" tIns="0" rIns="0" bIns="0" rtlCol="0" anchor="t"/>
          <a:lstStyle/>
          <a:p>
            <a:pPr marL="0" indent="0" algn="l">
              <a:lnSpc>
                <a:spcPts val="3000"/>
              </a:lnSpc>
              <a:buNone/>
            </a:pPr>
            <a:r>
              <a:rPr lang="en-US" sz="1850" b="1" dirty="0">
                <a:solidFill>
                  <a:srgbClr val="F9EEE7"/>
                </a:solidFill>
                <a:latin typeface="Quattrocento" pitchFamily="34" charset="0"/>
                <a:ea typeface="Quattrocento" pitchFamily="34" charset="-122"/>
                <a:cs typeface="Quattrocento" pitchFamily="34" charset="-120"/>
              </a:rPr>
              <a:t>Example 2</a:t>
            </a:r>
            <a:r>
              <a:rPr lang="en-US" sz="1850" dirty="0">
                <a:solidFill>
                  <a:srgbClr val="F9EEE7"/>
                </a:solidFill>
                <a:latin typeface="Quattrocento" pitchFamily="34" charset="0"/>
                <a:ea typeface="Quattrocento" pitchFamily="34" charset="-122"/>
                <a:cs typeface="Quattrocento" pitchFamily="34" charset="-120"/>
              </a:rPr>
              <a:t> — Standard: আপনার আশীর্বাদে এটা হতেই পারে।Barendri: আপনার আশীর্বাদেত এটা হবাই পারে। (Morphological: হতে → হবাই)</a:t>
            </a:r>
            <a:endParaRPr lang="en-US" sz="1850" dirty="0"/>
          </a:p>
        </p:txBody>
      </p:sp>
      <p:sp>
        <p:nvSpPr>
          <p:cNvPr id="5" name="Text 3"/>
          <p:cNvSpPr/>
          <p:nvPr/>
        </p:nvSpPr>
        <p:spPr>
          <a:xfrm>
            <a:off x="837724" y="5436156"/>
            <a:ext cx="7539395" cy="766048"/>
          </a:xfrm>
          <a:prstGeom prst="rect">
            <a:avLst/>
          </a:prstGeom>
          <a:noFill/>
          <a:ln/>
        </p:spPr>
        <p:txBody>
          <a:bodyPr wrap="square" lIns="0" tIns="0" rIns="0" bIns="0" rtlCol="0" anchor="t"/>
          <a:lstStyle/>
          <a:p>
            <a:pPr marL="0" indent="0" algn="l">
              <a:lnSpc>
                <a:spcPts val="3000"/>
              </a:lnSpc>
              <a:buNone/>
            </a:pPr>
            <a:r>
              <a:rPr lang="en-US" sz="1850" b="1" dirty="0">
                <a:solidFill>
                  <a:srgbClr val="F9EEE7"/>
                </a:solidFill>
                <a:latin typeface="Quattrocento" pitchFamily="34" charset="0"/>
                <a:ea typeface="Quattrocento" pitchFamily="34" charset="-122"/>
                <a:cs typeface="Quattrocento" pitchFamily="34" charset="-120"/>
              </a:rPr>
              <a:t>Example 3</a:t>
            </a:r>
            <a:r>
              <a:rPr lang="en-US" sz="1850" dirty="0">
                <a:solidFill>
                  <a:srgbClr val="F9EEE7"/>
                </a:solidFill>
                <a:latin typeface="Quattrocento" pitchFamily="34" charset="0"/>
                <a:ea typeface="Quattrocento" pitchFamily="34" charset="-122"/>
                <a:cs typeface="Quattrocento" pitchFamily="34" charset="-120"/>
              </a:rPr>
              <a:t> — Standard: ওই শত্রুদের আমি এখানে থাকতে দেবো না।Barendri: এই শত্রুদেক মুই এঠাকোনা থাকবা দিম না। (Syntactic reordering)</a:t>
            </a:r>
            <a:endParaRPr lang="en-US" sz="1850" dirty="0"/>
          </a:p>
        </p:txBody>
      </p:sp>
      <p:pic>
        <p:nvPicPr>
          <p:cNvPr id="6" name="Image 0" descr="preencoded.png"/>
          <p:cNvPicPr>
            <a:picLocks noChangeAspect="1"/>
          </p:cNvPicPr>
          <p:nvPr/>
        </p:nvPicPr>
        <p:blipFill>
          <a:blip r:embed="rId3"/>
          <a:stretch>
            <a:fillRect/>
          </a:stretch>
        </p:blipFill>
        <p:spPr>
          <a:xfrm>
            <a:off x="8968621" y="3144083"/>
            <a:ext cx="2286000" cy="2286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37724" y="2539008"/>
            <a:ext cx="10969347" cy="704017"/>
          </a:xfrm>
          <a:prstGeom prst="rect">
            <a:avLst/>
          </a:prstGeom>
          <a:noFill/>
          <a:ln/>
        </p:spPr>
        <p:txBody>
          <a:bodyPr wrap="none" lIns="0" tIns="0" rIns="0" bIns="0" rtlCol="0" anchor="t"/>
          <a:lstStyle/>
          <a:p>
            <a:pPr marL="0" indent="0" algn="l">
              <a:lnSpc>
                <a:spcPts val="5500"/>
              </a:lnSpc>
              <a:buNone/>
            </a:pPr>
            <a:r>
              <a:rPr lang="en-US" sz="4400" dirty="0">
                <a:solidFill>
                  <a:srgbClr val="FFD9BE"/>
                </a:solidFill>
                <a:latin typeface="Quattrocento" pitchFamily="34" charset="0"/>
                <a:ea typeface="Quattrocento" pitchFamily="34" charset="-122"/>
                <a:cs typeface="Quattrocento" pitchFamily="34" charset="-120"/>
              </a:rPr>
              <a:t>Phonetic Divergences &amp; Linguistic Distance</a:t>
            </a:r>
            <a:endParaRPr lang="en-US" sz="4400" dirty="0"/>
          </a:p>
        </p:txBody>
      </p:sp>
      <p:sp>
        <p:nvSpPr>
          <p:cNvPr id="3" name="Text 1"/>
          <p:cNvSpPr/>
          <p:nvPr/>
        </p:nvSpPr>
        <p:spPr>
          <a:xfrm>
            <a:off x="837724" y="3721775"/>
            <a:ext cx="12954952" cy="383024"/>
          </a:xfrm>
          <a:prstGeom prst="rect">
            <a:avLst/>
          </a:prstGeom>
          <a:noFill/>
          <a:ln/>
        </p:spPr>
        <p:txBody>
          <a:bodyPr wrap="none" lIns="0" tIns="0" rIns="0" bIns="0" rtlCol="0" anchor="t"/>
          <a:lstStyle/>
          <a:p>
            <a:pPr marL="0" indent="0" algn="l">
              <a:lnSpc>
                <a:spcPts val="3000"/>
              </a:lnSpc>
              <a:buNone/>
            </a:pPr>
            <a:r>
              <a:rPr lang="en-US" sz="1850" dirty="0">
                <a:solidFill>
                  <a:srgbClr val="F9EEE7"/>
                </a:solidFill>
                <a:latin typeface="Quattrocento" pitchFamily="34" charset="0"/>
                <a:ea typeface="Quattrocento" pitchFamily="34" charset="-122"/>
                <a:cs typeface="Quattrocento" pitchFamily="34" charset="-120"/>
              </a:rPr>
              <a:t>We quantify divergence with character edit distance: Barendri = 0.12 (low), Chittagong = 0.28 (high). Key patterns:</a:t>
            </a:r>
            <a:endParaRPr lang="en-US" sz="1850" dirty="0"/>
          </a:p>
        </p:txBody>
      </p:sp>
      <p:sp>
        <p:nvSpPr>
          <p:cNvPr id="4" name="Text 2"/>
          <p:cNvSpPr/>
          <p:nvPr/>
        </p:nvSpPr>
        <p:spPr>
          <a:xfrm>
            <a:off x="837724" y="4373999"/>
            <a:ext cx="12954952"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Barendri: vowel raising (এই /ei/ → /oi/), consonant softening; ~85% overlap</a:t>
            </a:r>
            <a:endParaRPr lang="en-US" sz="1850" dirty="0"/>
          </a:p>
        </p:txBody>
      </p:sp>
      <p:sp>
        <p:nvSpPr>
          <p:cNvPr id="5" name="Text 3"/>
          <p:cNvSpPr/>
          <p:nvPr/>
        </p:nvSpPr>
        <p:spPr>
          <a:xfrm>
            <a:off x="837724" y="4840724"/>
            <a:ext cx="12954952"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Chittagong: glottal loss, fricative mergers, loss of semi-vowels — higher orthographic noise</a:t>
            </a:r>
            <a:endParaRPr lang="en-US" sz="1850" dirty="0"/>
          </a:p>
        </p:txBody>
      </p:sp>
      <p:sp>
        <p:nvSpPr>
          <p:cNvPr id="6" name="Text 4"/>
          <p:cNvSpPr/>
          <p:nvPr/>
        </p:nvSpPr>
        <p:spPr>
          <a:xfrm>
            <a:off x="837724" y="5307449"/>
            <a:ext cx="12954952"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Implication: memory should prioritize rare phonetic/morphological forms for low-divergence dialects</a:t>
            </a:r>
            <a:endParaRPr lang="en-US" sz="1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37724" y="795338"/>
            <a:ext cx="12605742" cy="668774"/>
          </a:xfrm>
          <a:prstGeom prst="rect">
            <a:avLst/>
          </a:prstGeom>
          <a:noFill/>
          <a:ln/>
        </p:spPr>
        <p:txBody>
          <a:bodyPr wrap="none" lIns="0" tIns="0" rIns="0" bIns="0" rtlCol="0" anchor="t"/>
          <a:lstStyle/>
          <a:p>
            <a:pPr marL="0" indent="0" algn="l">
              <a:lnSpc>
                <a:spcPts val="5250"/>
              </a:lnSpc>
              <a:buNone/>
            </a:pPr>
            <a:r>
              <a:rPr lang="en-US" sz="4200" dirty="0">
                <a:solidFill>
                  <a:srgbClr val="FFD9BE"/>
                </a:solidFill>
                <a:latin typeface="Quattrocento" pitchFamily="34" charset="0"/>
                <a:ea typeface="Quattrocento" pitchFamily="34" charset="-122"/>
                <a:cs typeface="Quattrocento" pitchFamily="34" charset="-120"/>
              </a:rPr>
              <a:t>Method: Adaptive Memory-Augmented Transformer</a:t>
            </a:r>
            <a:endParaRPr lang="en-US" sz="4200" dirty="0"/>
          </a:p>
        </p:txBody>
      </p:sp>
      <p:sp>
        <p:nvSpPr>
          <p:cNvPr id="3" name="Text 1"/>
          <p:cNvSpPr/>
          <p:nvPr/>
        </p:nvSpPr>
        <p:spPr>
          <a:xfrm>
            <a:off x="837724" y="2032635"/>
            <a:ext cx="2799517" cy="334328"/>
          </a:xfrm>
          <a:prstGeom prst="rect">
            <a:avLst/>
          </a:prstGeom>
          <a:noFill/>
          <a:ln/>
        </p:spPr>
        <p:txBody>
          <a:bodyPr wrap="none" lIns="0" tIns="0" rIns="0" bIns="0" rtlCol="0" anchor="t"/>
          <a:lstStyle/>
          <a:p>
            <a:pPr marL="0" indent="0" algn="l">
              <a:lnSpc>
                <a:spcPts val="2600"/>
              </a:lnSpc>
              <a:buNone/>
            </a:pPr>
            <a:r>
              <a:rPr lang="en-US" sz="2100" dirty="0">
                <a:solidFill>
                  <a:srgbClr val="FFD9BE"/>
                </a:solidFill>
                <a:latin typeface="Quattrocento" pitchFamily="34" charset="0"/>
                <a:ea typeface="Quattrocento" pitchFamily="34" charset="-122"/>
                <a:cs typeface="Quattrocento" pitchFamily="34" charset="-120"/>
              </a:rPr>
              <a:t>Architecture Highlights</a:t>
            </a:r>
            <a:endParaRPr lang="en-US" sz="2100" dirty="0"/>
          </a:p>
        </p:txBody>
      </p:sp>
      <p:sp>
        <p:nvSpPr>
          <p:cNvPr id="4" name="Text 2"/>
          <p:cNvSpPr/>
          <p:nvPr/>
        </p:nvSpPr>
        <p:spPr>
          <a:xfrm>
            <a:off x="837724" y="2594372"/>
            <a:ext cx="6875502" cy="363855"/>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F9EEE7"/>
                </a:solidFill>
                <a:latin typeface="Quattrocento" pitchFamily="34" charset="0"/>
                <a:ea typeface="Quattrocento" pitchFamily="34" charset="-122"/>
                <a:cs typeface="Quattrocento" pitchFamily="34" charset="-120"/>
              </a:rPr>
              <a:t>Backbone: mT5‑small (220M parameters) pretrained</a:t>
            </a:r>
            <a:endParaRPr lang="en-US" sz="1750" dirty="0"/>
          </a:p>
        </p:txBody>
      </p:sp>
      <p:sp>
        <p:nvSpPr>
          <p:cNvPr id="5" name="Text 3"/>
          <p:cNvSpPr/>
          <p:nvPr/>
        </p:nvSpPr>
        <p:spPr>
          <a:xfrm>
            <a:off x="837724" y="3037761"/>
            <a:ext cx="6875502" cy="363855"/>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F9EEE7"/>
                </a:solidFill>
                <a:latin typeface="Quattrocento" pitchFamily="34" charset="0"/>
                <a:ea typeface="Quattrocento" pitchFamily="34" charset="-122"/>
                <a:cs typeface="Quattrocento" pitchFamily="34" charset="-120"/>
              </a:rPr>
              <a:t>Memory bank: stores embeddings for top-k rare tokens (k=512)</a:t>
            </a:r>
            <a:endParaRPr lang="en-US" sz="1750" dirty="0"/>
          </a:p>
        </p:txBody>
      </p:sp>
      <p:sp>
        <p:nvSpPr>
          <p:cNvPr id="6" name="Text 4"/>
          <p:cNvSpPr/>
          <p:nvPr/>
        </p:nvSpPr>
        <p:spPr>
          <a:xfrm>
            <a:off x="837724" y="3481149"/>
            <a:ext cx="6875502" cy="727710"/>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F9EEE7"/>
                </a:solidFill>
                <a:latin typeface="Quattrocento" pitchFamily="34" charset="0"/>
                <a:ea typeface="Quattrocento" pitchFamily="34" charset="-122"/>
                <a:cs typeface="Quattrocento" pitchFamily="34" charset="-120"/>
              </a:rPr>
              <a:t>Selection strategies: frequency-ascending (freq_asc) and attention-descending (attn_desc) at p25/p50/p75</a:t>
            </a:r>
            <a:endParaRPr lang="en-US" sz="1750" dirty="0"/>
          </a:p>
        </p:txBody>
      </p:sp>
      <p:sp>
        <p:nvSpPr>
          <p:cNvPr id="7" name="Text 5"/>
          <p:cNvSpPr/>
          <p:nvPr/>
        </p:nvSpPr>
        <p:spPr>
          <a:xfrm>
            <a:off x="837724" y="4288393"/>
            <a:ext cx="6875502" cy="727710"/>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F9EEE7"/>
                </a:solidFill>
                <a:latin typeface="Quattrocento" pitchFamily="34" charset="0"/>
                <a:ea typeface="Quattrocento" pitchFamily="34" charset="-122"/>
                <a:cs typeface="Quattrocento" pitchFamily="34" charset="-120"/>
              </a:rPr>
              <a:t>Integration: cosine-similarity query to memory + adaptive gating λ (based on max attention)</a:t>
            </a:r>
            <a:endParaRPr lang="en-US" sz="1750" dirty="0"/>
          </a:p>
        </p:txBody>
      </p:sp>
      <p:sp>
        <p:nvSpPr>
          <p:cNvPr id="8" name="Text 6"/>
          <p:cNvSpPr/>
          <p:nvPr/>
        </p:nvSpPr>
        <p:spPr>
          <a:xfrm>
            <a:off x="837724" y="5095637"/>
            <a:ext cx="6875502" cy="727710"/>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F9EEE7"/>
                </a:solidFill>
                <a:latin typeface="Quattrocento" pitchFamily="34" charset="0"/>
                <a:ea typeface="Quattrocento" pitchFamily="34" charset="-122"/>
                <a:cs typeface="Quattrocento" pitchFamily="34" charset="-120"/>
              </a:rPr>
              <a:t>Training stages: baseline train → feature extract &amp; memory train → integrated fine-tune</a:t>
            </a:r>
            <a:endParaRPr lang="en-US" sz="1750" dirty="0"/>
          </a:p>
        </p:txBody>
      </p:sp>
      <p:sp>
        <p:nvSpPr>
          <p:cNvPr id="9" name="Text 7"/>
          <p:cNvSpPr/>
          <p:nvPr/>
        </p:nvSpPr>
        <p:spPr>
          <a:xfrm>
            <a:off x="837724" y="6028015"/>
            <a:ext cx="6875502" cy="581978"/>
          </a:xfrm>
          <a:prstGeom prst="rect">
            <a:avLst/>
          </a:prstGeom>
          <a:noFill/>
          <a:ln/>
        </p:spPr>
        <p:txBody>
          <a:bodyPr wrap="square" lIns="0" tIns="0" rIns="0" bIns="0" rtlCol="0" anchor="t"/>
          <a:lstStyle/>
          <a:p>
            <a:pPr marL="0" indent="0" algn="l">
              <a:lnSpc>
                <a:spcPts val="2250"/>
              </a:lnSpc>
              <a:buNone/>
            </a:pPr>
            <a:r>
              <a:rPr lang="en-US" sz="1400" dirty="0">
                <a:solidFill>
                  <a:srgbClr val="F9EEE7"/>
                </a:solidFill>
                <a:latin typeface="Quattrocento" pitchFamily="34" charset="0"/>
                <a:ea typeface="Quattrocento" pitchFamily="34" charset="-122"/>
                <a:cs typeface="Quattrocento" pitchFamily="34" charset="-120"/>
              </a:rPr>
              <a:t>FFNN mapping between encoder and memory (ReLU, hidden=256) optimized with MSE to align embeddings.</a:t>
            </a:r>
            <a:endParaRPr lang="en-US" sz="1400" dirty="0"/>
          </a:p>
        </p:txBody>
      </p:sp>
      <p:pic>
        <p:nvPicPr>
          <p:cNvPr id="10" name="Image 0" descr="preencoded.png"/>
          <p:cNvPicPr>
            <a:picLocks noChangeAspect="1"/>
          </p:cNvPicPr>
          <p:nvPr/>
        </p:nvPicPr>
        <p:blipFill>
          <a:blip r:embed="rId3"/>
          <a:stretch>
            <a:fillRect/>
          </a:stretch>
        </p:blipFill>
        <p:spPr>
          <a:xfrm>
            <a:off x="8275677" y="2060972"/>
            <a:ext cx="2286000" cy="2286000"/>
          </a:xfrm>
          <a:prstGeom prst="rect">
            <a:avLst/>
          </a:prstGeom>
        </p:spPr>
      </p:pic>
      <p:sp>
        <p:nvSpPr>
          <p:cNvPr id="11" name="Text 8"/>
          <p:cNvSpPr/>
          <p:nvPr/>
        </p:nvSpPr>
        <p:spPr>
          <a:xfrm>
            <a:off x="837724" y="7070407"/>
            <a:ext cx="12954952" cy="363855"/>
          </a:xfrm>
          <a:prstGeom prst="rect">
            <a:avLst/>
          </a:prstGeom>
          <a:noFill/>
          <a:ln/>
        </p:spPr>
        <p:txBody>
          <a:bodyPr wrap="none" lIns="0" tIns="0" rIns="0" bIns="0" rtlCol="0" anchor="t"/>
          <a:lstStyle/>
          <a:p>
            <a:pPr marL="0" indent="0" algn="l">
              <a:lnSpc>
                <a:spcPts val="2850"/>
              </a:lnSpc>
              <a:buNone/>
            </a:pP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37724" y="849630"/>
            <a:ext cx="6804303" cy="457557"/>
          </a:xfrm>
          <a:prstGeom prst="rect">
            <a:avLst/>
          </a:prstGeom>
          <a:noFill/>
          <a:ln/>
        </p:spPr>
        <p:txBody>
          <a:bodyPr wrap="none" lIns="0" tIns="0" rIns="0" bIns="0" rtlCol="0" anchor="t"/>
          <a:lstStyle/>
          <a:p>
            <a:pPr marL="0" indent="0" algn="l">
              <a:lnSpc>
                <a:spcPts val="3600"/>
              </a:lnSpc>
              <a:buNone/>
            </a:pPr>
            <a:r>
              <a:rPr lang="en-US" sz="2850" dirty="0">
                <a:solidFill>
                  <a:srgbClr val="FFD9BE"/>
                </a:solidFill>
                <a:latin typeface="Quattrocento" pitchFamily="34" charset="0"/>
                <a:ea typeface="Quattrocento" pitchFamily="34" charset="-122"/>
                <a:cs typeface="Quattrocento" pitchFamily="34" charset="-120"/>
              </a:rPr>
              <a:t>Methodology - Adaptive Memory Module</a:t>
            </a:r>
            <a:endParaRPr lang="en-US" sz="2850" dirty="0"/>
          </a:p>
        </p:txBody>
      </p:sp>
      <p:sp>
        <p:nvSpPr>
          <p:cNvPr id="3" name="Text 1"/>
          <p:cNvSpPr/>
          <p:nvPr/>
        </p:nvSpPr>
        <p:spPr>
          <a:xfrm>
            <a:off x="837724" y="2546390"/>
            <a:ext cx="6287691" cy="622459"/>
          </a:xfrm>
          <a:prstGeom prst="rect">
            <a:avLst/>
          </a:prstGeom>
          <a:noFill/>
          <a:ln/>
        </p:spPr>
        <p:txBody>
          <a:bodyPr wrap="square" lIns="0" tIns="0" rIns="0" bIns="0" rtlCol="0" anchor="t"/>
          <a:lstStyle/>
          <a:p>
            <a:pPr marL="342900" indent="-342900" algn="l">
              <a:lnSpc>
                <a:spcPts val="1950"/>
              </a:lnSpc>
              <a:buSzPct val="100000"/>
              <a:buChar char="•"/>
            </a:pPr>
            <a:r>
              <a:rPr lang="en-US" sz="1200" dirty="0">
                <a:solidFill>
                  <a:srgbClr val="F9EEE7"/>
                </a:solidFill>
                <a:latin typeface="Quattrocento" pitchFamily="34" charset="0"/>
                <a:ea typeface="Quattrocento" pitchFamily="34" charset="-122"/>
                <a:cs typeface="Quattrocento" pitchFamily="34" charset="-120"/>
              </a:rPr>
              <a:t>Memory Bank: Stores embeddings of rare tokens (top-k=512; Selection: Freq/Attention percentiles p25/p50/p75)</a:t>
            </a:r>
            <a:endParaRPr lang="en-US" sz="1200" dirty="0"/>
          </a:p>
        </p:txBody>
      </p:sp>
      <p:sp>
        <p:nvSpPr>
          <p:cNvPr id="4" name="Text 2"/>
          <p:cNvSpPr/>
          <p:nvPr/>
        </p:nvSpPr>
        <p:spPr>
          <a:xfrm>
            <a:off x="837724" y="3223260"/>
            <a:ext cx="6287691" cy="622459"/>
          </a:xfrm>
          <a:prstGeom prst="rect">
            <a:avLst/>
          </a:prstGeom>
          <a:noFill/>
          <a:ln/>
        </p:spPr>
        <p:txBody>
          <a:bodyPr wrap="square" lIns="0" tIns="0" rIns="0" bIns="0" rtlCol="0" anchor="t"/>
          <a:lstStyle/>
          <a:p>
            <a:pPr marL="342900" indent="-342900" algn="l">
              <a:lnSpc>
                <a:spcPts val="1950"/>
              </a:lnSpc>
              <a:buSzPct val="100000"/>
              <a:buChar char="•"/>
            </a:pPr>
            <a:r>
              <a:rPr lang="en-US" sz="1200" dirty="0">
                <a:solidFill>
                  <a:srgbClr val="F9EEE7"/>
                </a:solidFill>
                <a:latin typeface="Quattrocento" pitchFamily="34" charset="0"/>
                <a:ea typeface="Quattrocento" pitchFamily="34" charset="-122"/>
                <a:cs typeface="Quattrocento" pitchFamily="34" charset="-120"/>
              </a:rPr>
              <a:t>FFNN Mapping: Encoder → Decoder embeddings (MSE loss, ReLU, hidden=256)</a:t>
            </a:r>
            <a:endParaRPr lang="en-US" sz="1200" dirty="0"/>
          </a:p>
        </p:txBody>
      </p:sp>
      <p:sp>
        <p:nvSpPr>
          <p:cNvPr id="5" name="Text 3"/>
          <p:cNvSpPr/>
          <p:nvPr/>
        </p:nvSpPr>
        <p:spPr>
          <a:xfrm>
            <a:off x="837724" y="3900130"/>
            <a:ext cx="6287691" cy="622459"/>
          </a:xfrm>
          <a:prstGeom prst="rect">
            <a:avLst/>
          </a:prstGeom>
          <a:noFill/>
          <a:ln/>
        </p:spPr>
        <p:txBody>
          <a:bodyPr wrap="square" lIns="0" tIns="0" rIns="0" bIns="0" rtlCol="0" anchor="t"/>
          <a:lstStyle/>
          <a:p>
            <a:pPr marL="342900" indent="-342900" algn="l">
              <a:lnSpc>
                <a:spcPts val="1950"/>
              </a:lnSpc>
              <a:buSzPct val="100000"/>
              <a:buChar char="•"/>
            </a:pPr>
            <a:r>
              <a:rPr lang="en-US" sz="1200" dirty="0">
                <a:solidFill>
                  <a:srgbClr val="F9EEE7"/>
                </a:solidFill>
                <a:latin typeface="Quattrocento" pitchFamily="34" charset="0"/>
                <a:ea typeface="Quattrocento" pitchFamily="34" charset="-122"/>
                <a:cs typeface="Quattrocento" pitchFamily="34" charset="-120"/>
              </a:rPr>
              <a:t>Integration: Cosine similarity query; Adaptive gating (λ = max attention)</a:t>
            </a:r>
            <a:endParaRPr lang="en-US" sz="1200" dirty="0"/>
          </a:p>
        </p:txBody>
      </p:sp>
      <p:sp>
        <p:nvSpPr>
          <p:cNvPr id="6" name="Text 4"/>
          <p:cNvSpPr/>
          <p:nvPr/>
        </p:nvSpPr>
        <p:spPr>
          <a:xfrm>
            <a:off x="837724" y="4577001"/>
            <a:ext cx="6287691" cy="622459"/>
          </a:xfrm>
          <a:prstGeom prst="rect">
            <a:avLst/>
          </a:prstGeom>
          <a:noFill/>
          <a:ln/>
        </p:spPr>
        <p:txBody>
          <a:bodyPr wrap="square" lIns="0" tIns="0" rIns="0" bIns="0" rtlCol="0" anchor="t"/>
          <a:lstStyle/>
          <a:p>
            <a:pPr marL="342900" indent="-342900" algn="l">
              <a:lnSpc>
                <a:spcPts val="1950"/>
              </a:lnSpc>
              <a:buSzPct val="100000"/>
              <a:buChar char="•"/>
            </a:pPr>
            <a:r>
              <a:rPr lang="en-US" sz="1200" dirty="0">
                <a:solidFill>
                  <a:srgbClr val="F9EEE7"/>
                </a:solidFill>
                <a:latin typeface="Quattrocento" pitchFamily="34" charset="0"/>
                <a:ea typeface="Quattrocento" pitchFamily="34" charset="-122"/>
                <a:cs typeface="Quattrocento" pitchFamily="34" charset="-120"/>
              </a:rPr>
              <a:t>Stages: 1) Baseline train; 2) Feature extract &amp; Memory train; 3) Integrated fine-tune</a:t>
            </a:r>
            <a:endParaRPr lang="en-US" sz="1200" dirty="0"/>
          </a:p>
        </p:txBody>
      </p:sp>
      <p:pic>
        <p:nvPicPr>
          <p:cNvPr id="7" name="Image 0" descr="preencoded.png"/>
          <p:cNvPicPr>
            <a:picLocks noChangeAspect="1"/>
          </p:cNvPicPr>
          <p:nvPr/>
        </p:nvPicPr>
        <p:blipFill>
          <a:blip r:embed="rId3"/>
          <a:stretch>
            <a:fillRect/>
          </a:stretch>
        </p:blipFill>
        <p:spPr>
          <a:xfrm>
            <a:off x="9029343" y="1715572"/>
            <a:ext cx="3254216" cy="3840242"/>
          </a:xfrm>
          <a:prstGeom prst="rect">
            <a:avLst/>
          </a:prstGeom>
        </p:spPr>
      </p:pic>
      <p:sp>
        <p:nvSpPr>
          <p:cNvPr id="8" name="Text 5"/>
          <p:cNvSpPr/>
          <p:nvPr/>
        </p:nvSpPr>
        <p:spPr>
          <a:xfrm>
            <a:off x="7512606" y="5730835"/>
            <a:ext cx="6287691" cy="248960"/>
          </a:xfrm>
          <a:prstGeom prst="rect">
            <a:avLst/>
          </a:prstGeom>
          <a:noFill/>
          <a:ln/>
        </p:spPr>
        <p:txBody>
          <a:bodyPr wrap="none" lIns="0" tIns="0" rIns="0" bIns="0" rtlCol="0" anchor="t"/>
          <a:lstStyle/>
          <a:p>
            <a:pPr marL="0" indent="0" algn="l">
              <a:lnSpc>
                <a:spcPts val="1950"/>
              </a:lnSpc>
              <a:buNone/>
            </a:pPr>
            <a:endParaRPr lang="en-US" sz="1200" dirty="0"/>
          </a:p>
        </p:txBody>
      </p:sp>
      <p:sp>
        <p:nvSpPr>
          <p:cNvPr id="9" name="Text 6"/>
          <p:cNvSpPr/>
          <p:nvPr/>
        </p:nvSpPr>
        <p:spPr>
          <a:xfrm>
            <a:off x="837724" y="6294834"/>
            <a:ext cx="12954952" cy="248960"/>
          </a:xfrm>
          <a:prstGeom prst="rect">
            <a:avLst/>
          </a:prstGeom>
          <a:noFill/>
          <a:ln/>
        </p:spPr>
        <p:txBody>
          <a:bodyPr wrap="none" lIns="0" tIns="0" rIns="0" bIns="0" rtlCol="0" anchor="t"/>
          <a:lstStyle/>
          <a:p>
            <a:pPr marL="0" indent="0" algn="l">
              <a:lnSpc>
                <a:spcPts val="1950"/>
              </a:lnSpc>
              <a:buNone/>
            </a:pP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37724" y="1833324"/>
            <a:ext cx="5632490" cy="704017"/>
          </a:xfrm>
          <a:prstGeom prst="rect">
            <a:avLst/>
          </a:prstGeom>
          <a:noFill/>
          <a:ln/>
        </p:spPr>
        <p:txBody>
          <a:bodyPr wrap="none" lIns="0" tIns="0" rIns="0" bIns="0" rtlCol="0" anchor="t"/>
          <a:lstStyle/>
          <a:p>
            <a:pPr marL="0" indent="0" algn="l">
              <a:lnSpc>
                <a:spcPts val="5500"/>
              </a:lnSpc>
              <a:buNone/>
            </a:pPr>
            <a:r>
              <a:rPr lang="en-US" sz="4400" dirty="0">
                <a:solidFill>
                  <a:srgbClr val="FFD9BE"/>
                </a:solidFill>
                <a:latin typeface="Quattrocento" pitchFamily="34" charset="0"/>
                <a:ea typeface="Quattrocento" pitchFamily="34" charset="-122"/>
                <a:cs typeface="Quattrocento" pitchFamily="34" charset="-120"/>
              </a:rPr>
              <a:t>Experiments Setup</a:t>
            </a:r>
            <a:endParaRPr lang="en-US" sz="4400" dirty="0"/>
          </a:p>
        </p:txBody>
      </p:sp>
      <p:sp>
        <p:nvSpPr>
          <p:cNvPr id="3" name="Text 1"/>
          <p:cNvSpPr/>
          <p:nvPr/>
        </p:nvSpPr>
        <p:spPr>
          <a:xfrm>
            <a:off x="837724" y="3016091"/>
            <a:ext cx="12954952" cy="478631"/>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Datasets: Barendri (5K pairs); Chittagong (3K adapted)</a:t>
            </a:r>
            <a:endParaRPr lang="en-US" sz="1850" dirty="0"/>
          </a:p>
        </p:txBody>
      </p:sp>
      <p:sp>
        <p:nvSpPr>
          <p:cNvPr id="4" name="Text 2"/>
          <p:cNvSpPr/>
          <p:nvPr/>
        </p:nvSpPr>
        <p:spPr>
          <a:xfrm>
            <a:off x="837724" y="3578423"/>
            <a:ext cx="12954952" cy="478631"/>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Metrics: SacreBLEU, METEOR, Char-ROUGE (F1 via Hugging Face)</a:t>
            </a:r>
            <a:endParaRPr lang="en-US" sz="1850" dirty="0"/>
          </a:p>
        </p:txBody>
      </p:sp>
      <p:sp>
        <p:nvSpPr>
          <p:cNvPr id="5" name="Text 3"/>
          <p:cNvSpPr/>
          <p:nvPr/>
        </p:nvSpPr>
        <p:spPr>
          <a:xfrm>
            <a:off x="837724" y="4140756"/>
            <a:ext cx="12954952" cy="478631"/>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Baselines: Untrained base, Vanilla mT5</a:t>
            </a:r>
            <a:endParaRPr lang="en-US" sz="1850" dirty="0"/>
          </a:p>
        </p:txBody>
      </p:sp>
      <p:sp>
        <p:nvSpPr>
          <p:cNvPr id="6" name="Text 4"/>
          <p:cNvSpPr/>
          <p:nvPr/>
        </p:nvSpPr>
        <p:spPr>
          <a:xfrm>
            <a:off x="837724" y="4703088"/>
            <a:ext cx="12954952" cy="478631"/>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Ablations: Freq-asc vs. Attn-desc at p25/p50/p75 thresholds</a:t>
            </a:r>
            <a:endParaRPr lang="en-US" sz="1850" dirty="0"/>
          </a:p>
        </p:txBody>
      </p:sp>
      <p:sp>
        <p:nvSpPr>
          <p:cNvPr id="7" name="Text 5"/>
          <p:cNvSpPr/>
          <p:nvPr/>
        </p:nvSpPr>
        <p:spPr>
          <a:xfrm>
            <a:off x="837724" y="5265420"/>
            <a:ext cx="12954952" cy="478631"/>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Qualitative: 500 human evals (Fluency/Adequacy, Fleiss' κ)</a:t>
            </a:r>
            <a:endParaRPr lang="en-US" sz="1850" dirty="0"/>
          </a:p>
        </p:txBody>
      </p:sp>
      <p:sp>
        <p:nvSpPr>
          <p:cNvPr id="8" name="Text 6"/>
          <p:cNvSpPr/>
          <p:nvPr/>
        </p:nvSpPr>
        <p:spPr>
          <a:xfrm>
            <a:off x="837724" y="6013252"/>
            <a:ext cx="12954952" cy="383024"/>
          </a:xfrm>
          <a:prstGeom prst="rect">
            <a:avLst/>
          </a:prstGeom>
          <a:noFill/>
          <a:ln/>
        </p:spPr>
        <p:txBody>
          <a:bodyPr wrap="none" lIns="0" tIns="0" rIns="0" bIns="0" rtlCol="0" anchor="t"/>
          <a:lstStyle/>
          <a:p>
            <a:pPr marL="0" indent="0" algn="l">
              <a:lnSpc>
                <a:spcPts val="3000"/>
              </a:lnSpc>
              <a:buNone/>
            </a:pPr>
            <a:endParaRPr lang="en-US" sz="1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837724" y="1037868"/>
            <a:ext cx="4033718" cy="457557"/>
          </a:xfrm>
          <a:prstGeom prst="rect">
            <a:avLst/>
          </a:prstGeom>
          <a:noFill/>
          <a:ln/>
        </p:spPr>
        <p:txBody>
          <a:bodyPr wrap="none" lIns="0" tIns="0" rIns="0" bIns="0" rtlCol="0" anchor="t"/>
          <a:lstStyle/>
          <a:p>
            <a:pPr marL="0" indent="0" algn="l">
              <a:lnSpc>
                <a:spcPts val="3600"/>
              </a:lnSpc>
              <a:buNone/>
            </a:pPr>
            <a:r>
              <a:rPr lang="en-US" sz="2850" dirty="0">
                <a:solidFill>
                  <a:srgbClr val="FFD9BE"/>
                </a:solidFill>
                <a:latin typeface="Quattrocento" pitchFamily="34" charset="0"/>
                <a:ea typeface="Quattrocento" pitchFamily="34" charset="-122"/>
                <a:cs typeface="Quattrocento" pitchFamily="34" charset="-120"/>
              </a:rPr>
              <a:t>Results - Overall Metrics</a:t>
            </a:r>
            <a:endParaRPr lang="en-US" sz="2850" dirty="0"/>
          </a:p>
        </p:txBody>
      </p:sp>
      <p:sp>
        <p:nvSpPr>
          <p:cNvPr id="3" name="Text 1"/>
          <p:cNvSpPr/>
          <p:nvPr/>
        </p:nvSpPr>
        <p:spPr>
          <a:xfrm>
            <a:off x="837724" y="1868805"/>
            <a:ext cx="6287691" cy="622459"/>
          </a:xfrm>
          <a:prstGeom prst="rect">
            <a:avLst/>
          </a:prstGeom>
          <a:noFill/>
          <a:ln/>
        </p:spPr>
        <p:txBody>
          <a:bodyPr wrap="square" lIns="0" tIns="0" rIns="0" bIns="0" rtlCol="0" anchor="t"/>
          <a:lstStyle/>
          <a:p>
            <a:pPr marL="342900" indent="-342900" algn="l">
              <a:lnSpc>
                <a:spcPts val="1950"/>
              </a:lnSpc>
              <a:buSzPct val="100000"/>
              <a:buChar char="•"/>
            </a:pPr>
            <a:r>
              <a:rPr lang="en-US" sz="1200" dirty="0">
                <a:solidFill>
                  <a:srgbClr val="F9EEE7"/>
                </a:solidFill>
                <a:latin typeface="Quattrocento" pitchFamily="34" charset="0"/>
                <a:ea typeface="Quattrocento" pitchFamily="34" charset="-122"/>
                <a:cs typeface="Quattrocento" pitchFamily="34" charset="-120"/>
              </a:rPr>
              <a:t>Barendri: Memory (freq_asc_p25) → BLEU 26.73 (+10.12 vs. Base 16.61); METEOR 0.467; ROUGE-L 0.821</a:t>
            </a:r>
            <a:endParaRPr lang="en-US" sz="1200" dirty="0"/>
          </a:p>
        </p:txBody>
      </p:sp>
      <p:sp>
        <p:nvSpPr>
          <p:cNvPr id="4" name="Text 2"/>
          <p:cNvSpPr/>
          <p:nvPr/>
        </p:nvSpPr>
        <p:spPr>
          <a:xfrm>
            <a:off x="837724" y="2545675"/>
            <a:ext cx="6287691" cy="311229"/>
          </a:xfrm>
          <a:prstGeom prst="rect">
            <a:avLst/>
          </a:prstGeom>
          <a:noFill/>
          <a:ln/>
        </p:spPr>
        <p:txBody>
          <a:bodyPr wrap="none" lIns="0" tIns="0" rIns="0" bIns="0" rtlCol="0" anchor="t"/>
          <a:lstStyle/>
          <a:p>
            <a:pPr marL="342900" indent="-342900" algn="l">
              <a:lnSpc>
                <a:spcPts val="1950"/>
              </a:lnSpc>
              <a:buSzPct val="100000"/>
              <a:buChar char="•"/>
            </a:pPr>
            <a:r>
              <a:rPr lang="en-US" sz="1200" dirty="0">
                <a:solidFill>
                  <a:srgbClr val="F9EEE7"/>
                </a:solidFill>
                <a:latin typeface="Quattrocento" pitchFamily="34" charset="0"/>
                <a:ea typeface="Quattrocento" pitchFamily="34" charset="-122"/>
                <a:cs typeface="Quattrocento" pitchFamily="34" charset="-120"/>
              </a:rPr>
              <a:t>Backbone mT5: BLEU 31.41 (strong transfer, but no dialect tuning)</a:t>
            </a:r>
            <a:endParaRPr lang="en-US" sz="1200" dirty="0"/>
          </a:p>
        </p:txBody>
      </p:sp>
      <p:sp>
        <p:nvSpPr>
          <p:cNvPr id="5" name="Text 3"/>
          <p:cNvSpPr/>
          <p:nvPr/>
        </p:nvSpPr>
        <p:spPr>
          <a:xfrm>
            <a:off x="837724" y="2996922"/>
            <a:ext cx="6287691" cy="311229"/>
          </a:xfrm>
          <a:prstGeom prst="rect">
            <a:avLst/>
          </a:prstGeom>
          <a:noFill/>
          <a:ln/>
        </p:spPr>
        <p:txBody>
          <a:bodyPr wrap="none" lIns="0" tIns="0" rIns="0" bIns="0" rtlCol="0" anchor="t"/>
          <a:lstStyle/>
          <a:p>
            <a:pPr marL="0" indent="0" algn="l">
              <a:lnSpc>
                <a:spcPts val="2450"/>
              </a:lnSpc>
              <a:buNone/>
            </a:pPr>
            <a:endParaRPr lang="en-US" sz="1500" dirty="0"/>
          </a:p>
        </p:txBody>
      </p:sp>
      <p:sp>
        <p:nvSpPr>
          <p:cNvPr id="6" name="Text 4"/>
          <p:cNvSpPr/>
          <p:nvPr/>
        </p:nvSpPr>
        <p:spPr>
          <a:xfrm>
            <a:off x="7512606" y="1868805"/>
            <a:ext cx="6287691" cy="622459"/>
          </a:xfrm>
          <a:prstGeom prst="rect">
            <a:avLst/>
          </a:prstGeom>
          <a:noFill/>
          <a:ln/>
        </p:spPr>
        <p:txBody>
          <a:bodyPr wrap="square" lIns="0" tIns="0" rIns="0" bIns="0" rtlCol="0" anchor="t"/>
          <a:lstStyle/>
          <a:p>
            <a:pPr marL="342900" indent="-342900" algn="l">
              <a:lnSpc>
                <a:spcPts val="1950"/>
              </a:lnSpc>
              <a:buSzPct val="100000"/>
              <a:buChar char="•"/>
            </a:pPr>
            <a:r>
              <a:rPr lang="en-US" sz="1200" dirty="0">
                <a:solidFill>
                  <a:srgbClr val="F9EEE7"/>
                </a:solidFill>
                <a:latin typeface="Quattrocento" pitchFamily="34" charset="0"/>
                <a:ea typeface="Quattrocento" pitchFamily="34" charset="-122"/>
                <a:cs typeface="Quattrocento" pitchFamily="34" charset="-120"/>
              </a:rPr>
              <a:t>Chittagong: Memory → BLEU 22.36 (+4.86 vs. Base 17.50); Less gain due to high divergence</a:t>
            </a:r>
            <a:endParaRPr lang="en-US" sz="1200" dirty="0"/>
          </a:p>
        </p:txBody>
      </p:sp>
      <p:sp>
        <p:nvSpPr>
          <p:cNvPr id="7" name="Text 5"/>
          <p:cNvSpPr/>
          <p:nvPr/>
        </p:nvSpPr>
        <p:spPr>
          <a:xfrm>
            <a:off x="7512606" y="2545675"/>
            <a:ext cx="6287691" cy="311229"/>
          </a:xfrm>
          <a:prstGeom prst="rect">
            <a:avLst/>
          </a:prstGeom>
          <a:noFill/>
          <a:ln/>
        </p:spPr>
        <p:txBody>
          <a:bodyPr wrap="none" lIns="0" tIns="0" rIns="0" bIns="0" rtlCol="0" anchor="t"/>
          <a:lstStyle/>
          <a:p>
            <a:pPr marL="342900" indent="-342900" algn="l">
              <a:lnSpc>
                <a:spcPts val="1950"/>
              </a:lnSpc>
              <a:buSzPct val="100000"/>
              <a:buChar char="•"/>
            </a:pPr>
            <a:r>
              <a:rPr lang="en-US" sz="1200" dirty="0">
                <a:solidFill>
                  <a:srgbClr val="F9EEE7"/>
                </a:solidFill>
                <a:latin typeface="Quattrocento" pitchFamily="34" charset="0"/>
                <a:ea typeface="Quattrocento" pitchFamily="34" charset="-122"/>
                <a:cs typeface="Quattrocento" pitchFamily="34" charset="-120"/>
              </a:rPr>
              <a:t>Human Eval: Memory +0.8 Fluency (p&lt;0.05); κ=0.72 agreement</a:t>
            </a:r>
            <a:endParaRPr lang="en-US" sz="1200" dirty="0"/>
          </a:p>
        </p:txBody>
      </p:sp>
      <p:sp>
        <p:nvSpPr>
          <p:cNvPr id="8" name="Text 6"/>
          <p:cNvSpPr/>
          <p:nvPr/>
        </p:nvSpPr>
        <p:spPr>
          <a:xfrm>
            <a:off x="837724" y="3623191"/>
            <a:ext cx="12954952" cy="248960"/>
          </a:xfrm>
          <a:prstGeom prst="rect">
            <a:avLst/>
          </a:prstGeom>
          <a:noFill/>
          <a:ln/>
        </p:spPr>
        <p:txBody>
          <a:bodyPr wrap="none" lIns="0" tIns="0" rIns="0" bIns="0" rtlCol="0" anchor="t"/>
          <a:lstStyle/>
          <a:p>
            <a:pPr marL="0" indent="0" algn="l">
              <a:lnSpc>
                <a:spcPts val="1950"/>
              </a:lnSpc>
              <a:buNone/>
            </a:pPr>
            <a:endParaRPr lang="en-US" sz="1200" dirty="0"/>
          </a:p>
        </p:txBody>
      </p:sp>
      <p:sp>
        <p:nvSpPr>
          <p:cNvPr id="9" name="Shape 7"/>
          <p:cNvSpPr/>
          <p:nvPr/>
        </p:nvSpPr>
        <p:spPr>
          <a:xfrm>
            <a:off x="837724" y="4047173"/>
            <a:ext cx="12954952" cy="2720578"/>
          </a:xfrm>
          <a:prstGeom prst="roundRect">
            <a:avLst>
              <a:gd name="adj" fmla="val 858"/>
            </a:avLst>
          </a:prstGeom>
          <a:noFill/>
          <a:ln w="7620">
            <a:solidFill>
              <a:srgbClr val="FFFFFF">
                <a:alpha val="24000"/>
              </a:srgbClr>
            </a:solidFill>
            <a:prstDash val="solid"/>
          </a:ln>
        </p:spPr>
      </p:sp>
      <p:sp>
        <p:nvSpPr>
          <p:cNvPr id="10" name="Shape 8"/>
          <p:cNvSpPr/>
          <p:nvPr/>
        </p:nvSpPr>
        <p:spPr>
          <a:xfrm>
            <a:off x="845344" y="4054793"/>
            <a:ext cx="12939713" cy="450890"/>
          </a:xfrm>
          <a:prstGeom prst="rect">
            <a:avLst/>
          </a:prstGeom>
          <a:solidFill>
            <a:srgbClr val="FFFFFF">
              <a:alpha val="4000"/>
            </a:srgbClr>
          </a:solidFill>
          <a:ln/>
        </p:spPr>
      </p:sp>
      <p:sp>
        <p:nvSpPr>
          <p:cNvPr id="11" name="Text 9"/>
          <p:cNvSpPr/>
          <p:nvPr/>
        </p:nvSpPr>
        <p:spPr>
          <a:xfrm>
            <a:off x="1000839" y="4155757"/>
            <a:ext cx="2273141" cy="248960"/>
          </a:xfrm>
          <a:prstGeom prst="rect">
            <a:avLst/>
          </a:prstGeom>
          <a:noFill/>
          <a:ln/>
        </p:spPr>
        <p:txBody>
          <a:bodyPr wrap="none" lIns="0" tIns="0" rIns="0" bIns="0" rtlCol="0" anchor="t"/>
          <a:lstStyle/>
          <a:p>
            <a:pPr marL="0" indent="0" algn="l">
              <a:lnSpc>
                <a:spcPts val="1950"/>
              </a:lnSpc>
              <a:buNone/>
            </a:pPr>
            <a:r>
              <a:rPr lang="en-US" sz="1200" b="1" dirty="0">
                <a:solidFill>
                  <a:srgbClr val="F9EEE7"/>
                </a:solidFill>
                <a:latin typeface="Quattrocento" pitchFamily="34" charset="0"/>
                <a:ea typeface="Quattrocento" pitchFamily="34" charset="-122"/>
                <a:cs typeface="Quattrocento" pitchFamily="34" charset="-120"/>
              </a:rPr>
              <a:t>Model/Ablation</a:t>
            </a:r>
            <a:endParaRPr lang="en-US" sz="1200" dirty="0"/>
          </a:p>
        </p:txBody>
      </p:sp>
      <p:sp>
        <p:nvSpPr>
          <p:cNvPr id="12" name="Text 10"/>
          <p:cNvSpPr/>
          <p:nvPr/>
        </p:nvSpPr>
        <p:spPr>
          <a:xfrm>
            <a:off x="3592592" y="4155757"/>
            <a:ext cx="2269331" cy="248960"/>
          </a:xfrm>
          <a:prstGeom prst="rect">
            <a:avLst/>
          </a:prstGeom>
          <a:noFill/>
          <a:ln/>
        </p:spPr>
        <p:txBody>
          <a:bodyPr wrap="none" lIns="0" tIns="0" rIns="0" bIns="0" rtlCol="0" anchor="t"/>
          <a:lstStyle/>
          <a:p>
            <a:pPr marL="0" indent="0" algn="l">
              <a:lnSpc>
                <a:spcPts val="1950"/>
              </a:lnSpc>
              <a:buNone/>
            </a:pPr>
            <a:r>
              <a:rPr lang="en-US" sz="1200" b="1" dirty="0">
                <a:solidFill>
                  <a:srgbClr val="F9EEE7"/>
                </a:solidFill>
                <a:latin typeface="Quattrocento" pitchFamily="34" charset="0"/>
                <a:ea typeface="Quattrocento" pitchFamily="34" charset="-122"/>
                <a:cs typeface="Quattrocento" pitchFamily="34" charset="-120"/>
              </a:rPr>
              <a:t>Dialect</a:t>
            </a:r>
            <a:endParaRPr lang="en-US" sz="1200" dirty="0"/>
          </a:p>
        </p:txBody>
      </p:sp>
      <p:sp>
        <p:nvSpPr>
          <p:cNvPr id="13" name="Text 11"/>
          <p:cNvSpPr/>
          <p:nvPr/>
        </p:nvSpPr>
        <p:spPr>
          <a:xfrm>
            <a:off x="6180534" y="4155757"/>
            <a:ext cx="2269331" cy="248960"/>
          </a:xfrm>
          <a:prstGeom prst="rect">
            <a:avLst/>
          </a:prstGeom>
          <a:noFill/>
          <a:ln/>
        </p:spPr>
        <p:txBody>
          <a:bodyPr wrap="none" lIns="0" tIns="0" rIns="0" bIns="0" rtlCol="0" anchor="t"/>
          <a:lstStyle/>
          <a:p>
            <a:pPr marL="0" indent="0" algn="l">
              <a:lnSpc>
                <a:spcPts val="1950"/>
              </a:lnSpc>
              <a:buNone/>
            </a:pPr>
            <a:r>
              <a:rPr lang="en-US" sz="1200" b="1" dirty="0">
                <a:solidFill>
                  <a:srgbClr val="F9EEE7"/>
                </a:solidFill>
                <a:latin typeface="Quattrocento" pitchFamily="34" charset="0"/>
                <a:ea typeface="Quattrocento" pitchFamily="34" charset="-122"/>
                <a:cs typeface="Quattrocento" pitchFamily="34" charset="-120"/>
              </a:rPr>
              <a:t>SacreBLEU</a:t>
            </a:r>
            <a:endParaRPr lang="en-US" sz="1200" dirty="0"/>
          </a:p>
        </p:txBody>
      </p:sp>
      <p:sp>
        <p:nvSpPr>
          <p:cNvPr id="14" name="Text 12"/>
          <p:cNvSpPr/>
          <p:nvPr/>
        </p:nvSpPr>
        <p:spPr>
          <a:xfrm>
            <a:off x="8768477" y="4155757"/>
            <a:ext cx="2269331" cy="248960"/>
          </a:xfrm>
          <a:prstGeom prst="rect">
            <a:avLst/>
          </a:prstGeom>
          <a:noFill/>
          <a:ln/>
        </p:spPr>
        <p:txBody>
          <a:bodyPr wrap="none" lIns="0" tIns="0" rIns="0" bIns="0" rtlCol="0" anchor="t"/>
          <a:lstStyle/>
          <a:p>
            <a:pPr marL="0" indent="0" algn="l">
              <a:lnSpc>
                <a:spcPts val="1950"/>
              </a:lnSpc>
              <a:buNone/>
            </a:pPr>
            <a:r>
              <a:rPr lang="en-US" sz="1200" b="1" dirty="0">
                <a:solidFill>
                  <a:srgbClr val="F9EEE7"/>
                </a:solidFill>
                <a:latin typeface="Quattrocento" pitchFamily="34" charset="0"/>
                <a:ea typeface="Quattrocento" pitchFamily="34" charset="-122"/>
                <a:cs typeface="Quattrocento" pitchFamily="34" charset="-120"/>
              </a:rPr>
              <a:t>METEOR</a:t>
            </a:r>
            <a:endParaRPr lang="en-US" sz="1200" dirty="0"/>
          </a:p>
        </p:txBody>
      </p:sp>
      <p:sp>
        <p:nvSpPr>
          <p:cNvPr id="15" name="Text 13"/>
          <p:cNvSpPr/>
          <p:nvPr/>
        </p:nvSpPr>
        <p:spPr>
          <a:xfrm>
            <a:off x="11356419" y="4155757"/>
            <a:ext cx="2273141" cy="248960"/>
          </a:xfrm>
          <a:prstGeom prst="rect">
            <a:avLst/>
          </a:prstGeom>
          <a:noFill/>
          <a:ln/>
        </p:spPr>
        <p:txBody>
          <a:bodyPr wrap="none" lIns="0" tIns="0" rIns="0" bIns="0" rtlCol="0" anchor="t"/>
          <a:lstStyle/>
          <a:p>
            <a:pPr marL="0" indent="0" algn="l">
              <a:lnSpc>
                <a:spcPts val="1950"/>
              </a:lnSpc>
              <a:buNone/>
            </a:pPr>
            <a:r>
              <a:rPr lang="en-US" sz="1200" b="1" dirty="0">
                <a:solidFill>
                  <a:srgbClr val="F9EEE7"/>
                </a:solidFill>
                <a:latin typeface="Quattrocento" pitchFamily="34" charset="0"/>
                <a:ea typeface="Quattrocento" pitchFamily="34" charset="-122"/>
                <a:cs typeface="Quattrocento" pitchFamily="34" charset="-120"/>
              </a:rPr>
              <a:t>ROUGE-L (char)</a:t>
            </a:r>
            <a:endParaRPr lang="en-US" sz="1200" dirty="0"/>
          </a:p>
        </p:txBody>
      </p:sp>
      <p:sp>
        <p:nvSpPr>
          <p:cNvPr id="16" name="Shape 14"/>
          <p:cNvSpPr/>
          <p:nvPr/>
        </p:nvSpPr>
        <p:spPr>
          <a:xfrm>
            <a:off x="845344" y="4505682"/>
            <a:ext cx="12939713" cy="450890"/>
          </a:xfrm>
          <a:prstGeom prst="rect">
            <a:avLst/>
          </a:prstGeom>
          <a:solidFill>
            <a:srgbClr val="000000">
              <a:alpha val="4000"/>
            </a:srgbClr>
          </a:solidFill>
          <a:ln/>
        </p:spPr>
      </p:sp>
      <p:sp>
        <p:nvSpPr>
          <p:cNvPr id="17" name="Text 15"/>
          <p:cNvSpPr/>
          <p:nvPr/>
        </p:nvSpPr>
        <p:spPr>
          <a:xfrm>
            <a:off x="1000839" y="4606647"/>
            <a:ext cx="2273141" cy="248960"/>
          </a:xfrm>
          <a:prstGeom prst="rect">
            <a:avLst/>
          </a:prstGeom>
          <a:noFill/>
          <a:ln/>
        </p:spPr>
        <p:txBody>
          <a:bodyPr wrap="none" lIns="0" tIns="0" rIns="0" bIns="0" rtlCol="0" anchor="t"/>
          <a:lstStyle/>
          <a:p>
            <a:pPr marL="0" indent="0" algn="l">
              <a:lnSpc>
                <a:spcPts val="1950"/>
              </a:lnSpc>
              <a:buNone/>
            </a:pPr>
            <a:r>
              <a:rPr lang="en-US" sz="1200" dirty="0">
                <a:solidFill>
                  <a:srgbClr val="F9EEE7"/>
                </a:solidFill>
                <a:latin typeface="Quattrocento" pitchFamily="34" charset="0"/>
                <a:ea typeface="Quattrocento" pitchFamily="34" charset="-122"/>
                <a:cs typeface="Quattrocento" pitchFamily="34" charset="-120"/>
              </a:rPr>
              <a:t>Base</a:t>
            </a:r>
            <a:endParaRPr lang="en-US" sz="1200" dirty="0"/>
          </a:p>
        </p:txBody>
      </p:sp>
      <p:sp>
        <p:nvSpPr>
          <p:cNvPr id="18" name="Text 16"/>
          <p:cNvSpPr/>
          <p:nvPr/>
        </p:nvSpPr>
        <p:spPr>
          <a:xfrm>
            <a:off x="3592592" y="4606647"/>
            <a:ext cx="2269331" cy="248960"/>
          </a:xfrm>
          <a:prstGeom prst="rect">
            <a:avLst/>
          </a:prstGeom>
          <a:noFill/>
          <a:ln/>
        </p:spPr>
        <p:txBody>
          <a:bodyPr wrap="none" lIns="0" tIns="0" rIns="0" bIns="0" rtlCol="0" anchor="t"/>
          <a:lstStyle/>
          <a:p>
            <a:pPr marL="0" indent="0" algn="l">
              <a:lnSpc>
                <a:spcPts val="1950"/>
              </a:lnSpc>
              <a:buNone/>
            </a:pPr>
            <a:r>
              <a:rPr lang="en-US" sz="1200" dirty="0">
                <a:solidFill>
                  <a:srgbClr val="F9EEE7"/>
                </a:solidFill>
                <a:latin typeface="Quattrocento" pitchFamily="34" charset="0"/>
                <a:ea typeface="Quattrocento" pitchFamily="34" charset="-122"/>
                <a:cs typeface="Quattrocento" pitchFamily="34" charset="-120"/>
              </a:rPr>
              <a:t>Barendri</a:t>
            </a:r>
            <a:endParaRPr lang="en-US" sz="1200" dirty="0"/>
          </a:p>
        </p:txBody>
      </p:sp>
      <p:sp>
        <p:nvSpPr>
          <p:cNvPr id="19" name="Text 17"/>
          <p:cNvSpPr/>
          <p:nvPr/>
        </p:nvSpPr>
        <p:spPr>
          <a:xfrm>
            <a:off x="6180534" y="4606647"/>
            <a:ext cx="2269331" cy="248960"/>
          </a:xfrm>
          <a:prstGeom prst="rect">
            <a:avLst/>
          </a:prstGeom>
          <a:noFill/>
          <a:ln/>
        </p:spPr>
        <p:txBody>
          <a:bodyPr wrap="none" lIns="0" tIns="0" rIns="0" bIns="0" rtlCol="0" anchor="t"/>
          <a:lstStyle/>
          <a:p>
            <a:pPr marL="0" indent="0" algn="l">
              <a:lnSpc>
                <a:spcPts val="1950"/>
              </a:lnSpc>
              <a:buNone/>
            </a:pPr>
            <a:r>
              <a:rPr lang="en-US" sz="1200" dirty="0">
                <a:solidFill>
                  <a:srgbClr val="F9EEE7"/>
                </a:solidFill>
                <a:latin typeface="Quattrocento" pitchFamily="34" charset="0"/>
                <a:ea typeface="Quattrocento" pitchFamily="34" charset="-122"/>
                <a:cs typeface="Quattrocento" pitchFamily="34" charset="-120"/>
              </a:rPr>
              <a:t>16.61</a:t>
            </a:r>
            <a:endParaRPr lang="en-US" sz="1200" dirty="0"/>
          </a:p>
        </p:txBody>
      </p:sp>
      <p:sp>
        <p:nvSpPr>
          <p:cNvPr id="20" name="Text 18"/>
          <p:cNvSpPr/>
          <p:nvPr/>
        </p:nvSpPr>
        <p:spPr>
          <a:xfrm>
            <a:off x="8768477" y="4606647"/>
            <a:ext cx="2269331" cy="248960"/>
          </a:xfrm>
          <a:prstGeom prst="rect">
            <a:avLst/>
          </a:prstGeom>
          <a:noFill/>
          <a:ln/>
        </p:spPr>
        <p:txBody>
          <a:bodyPr wrap="none" lIns="0" tIns="0" rIns="0" bIns="0" rtlCol="0" anchor="t"/>
          <a:lstStyle/>
          <a:p>
            <a:pPr marL="0" indent="0" algn="l">
              <a:lnSpc>
                <a:spcPts val="1950"/>
              </a:lnSpc>
              <a:buNone/>
            </a:pPr>
            <a:r>
              <a:rPr lang="en-US" sz="1200" dirty="0">
                <a:solidFill>
                  <a:srgbClr val="F9EEE7"/>
                </a:solidFill>
                <a:latin typeface="Quattrocento" pitchFamily="34" charset="0"/>
                <a:ea typeface="Quattrocento" pitchFamily="34" charset="-122"/>
                <a:cs typeface="Quattrocento" pitchFamily="34" charset="-120"/>
              </a:rPr>
              <a:t>0.350</a:t>
            </a:r>
            <a:endParaRPr lang="en-US" sz="1200" dirty="0"/>
          </a:p>
        </p:txBody>
      </p:sp>
      <p:sp>
        <p:nvSpPr>
          <p:cNvPr id="21" name="Text 19"/>
          <p:cNvSpPr/>
          <p:nvPr/>
        </p:nvSpPr>
        <p:spPr>
          <a:xfrm>
            <a:off x="11356419" y="4606647"/>
            <a:ext cx="2273141" cy="248960"/>
          </a:xfrm>
          <a:prstGeom prst="rect">
            <a:avLst/>
          </a:prstGeom>
          <a:noFill/>
          <a:ln/>
        </p:spPr>
        <p:txBody>
          <a:bodyPr wrap="none" lIns="0" tIns="0" rIns="0" bIns="0" rtlCol="0" anchor="t"/>
          <a:lstStyle/>
          <a:p>
            <a:pPr marL="0" indent="0" algn="l">
              <a:lnSpc>
                <a:spcPts val="1950"/>
              </a:lnSpc>
              <a:buNone/>
            </a:pPr>
            <a:r>
              <a:rPr lang="en-US" sz="1200" dirty="0">
                <a:solidFill>
                  <a:srgbClr val="F9EEE7"/>
                </a:solidFill>
                <a:latin typeface="Quattrocento" pitchFamily="34" charset="0"/>
                <a:ea typeface="Quattrocento" pitchFamily="34" charset="-122"/>
                <a:cs typeface="Quattrocento" pitchFamily="34" charset="-120"/>
              </a:rPr>
              <a:t>0.773</a:t>
            </a:r>
            <a:endParaRPr lang="en-US" sz="1200" dirty="0"/>
          </a:p>
        </p:txBody>
      </p:sp>
      <p:sp>
        <p:nvSpPr>
          <p:cNvPr id="22" name="Shape 20"/>
          <p:cNvSpPr/>
          <p:nvPr/>
        </p:nvSpPr>
        <p:spPr>
          <a:xfrm>
            <a:off x="845344" y="4956572"/>
            <a:ext cx="12939713" cy="450890"/>
          </a:xfrm>
          <a:prstGeom prst="rect">
            <a:avLst/>
          </a:prstGeom>
          <a:solidFill>
            <a:srgbClr val="FFFFFF">
              <a:alpha val="4000"/>
            </a:srgbClr>
          </a:solidFill>
          <a:ln/>
        </p:spPr>
      </p:sp>
      <p:sp>
        <p:nvSpPr>
          <p:cNvPr id="23" name="Text 21"/>
          <p:cNvSpPr/>
          <p:nvPr/>
        </p:nvSpPr>
        <p:spPr>
          <a:xfrm>
            <a:off x="1000839" y="5057537"/>
            <a:ext cx="2273141" cy="248960"/>
          </a:xfrm>
          <a:prstGeom prst="rect">
            <a:avLst/>
          </a:prstGeom>
          <a:noFill/>
          <a:ln/>
        </p:spPr>
        <p:txBody>
          <a:bodyPr wrap="none" lIns="0" tIns="0" rIns="0" bIns="0" rtlCol="0" anchor="t"/>
          <a:lstStyle/>
          <a:p>
            <a:pPr marL="0" indent="0" algn="l">
              <a:lnSpc>
                <a:spcPts val="1950"/>
              </a:lnSpc>
              <a:buNone/>
            </a:pPr>
            <a:r>
              <a:rPr lang="en-US" sz="1200" dirty="0">
                <a:solidFill>
                  <a:srgbClr val="F9EEE7"/>
                </a:solidFill>
                <a:latin typeface="Quattrocento" pitchFamily="34" charset="0"/>
                <a:ea typeface="Quattrocento" pitchFamily="34" charset="-122"/>
                <a:cs typeface="Quattrocento" pitchFamily="34" charset="-120"/>
              </a:rPr>
              <a:t>mT5 Backbone</a:t>
            </a:r>
            <a:endParaRPr lang="en-US" sz="1200" dirty="0"/>
          </a:p>
        </p:txBody>
      </p:sp>
      <p:sp>
        <p:nvSpPr>
          <p:cNvPr id="24" name="Text 22"/>
          <p:cNvSpPr/>
          <p:nvPr/>
        </p:nvSpPr>
        <p:spPr>
          <a:xfrm>
            <a:off x="3592592" y="5057537"/>
            <a:ext cx="2269331" cy="248960"/>
          </a:xfrm>
          <a:prstGeom prst="rect">
            <a:avLst/>
          </a:prstGeom>
          <a:noFill/>
          <a:ln/>
        </p:spPr>
        <p:txBody>
          <a:bodyPr wrap="none" lIns="0" tIns="0" rIns="0" bIns="0" rtlCol="0" anchor="t"/>
          <a:lstStyle/>
          <a:p>
            <a:pPr marL="0" indent="0" algn="l">
              <a:lnSpc>
                <a:spcPts val="1950"/>
              </a:lnSpc>
              <a:buNone/>
            </a:pPr>
            <a:r>
              <a:rPr lang="en-US" sz="1200" dirty="0">
                <a:solidFill>
                  <a:srgbClr val="F9EEE7"/>
                </a:solidFill>
                <a:latin typeface="Quattrocento" pitchFamily="34" charset="0"/>
                <a:ea typeface="Quattrocento" pitchFamily="34" charset="-122"/>
                <a:cs typeface="Quattrocento" pitchFamily="34" charset="-120"/>
              </a:rPr>
              <a:t>Barendri</a:t>
            </a:r>
            <a:endParaRPr lang="en-US" sz="1200" dirty="0"/>
          </a:p>
        </p:txBody>
      </p:sp>
      <p:sp>
        <p:nvSpPr>
          <p:cNvPr id="25" name="Text 23"/>
          <p:cNvSpPr/>
          <p:nvPr/>
        </p:nvSpPr>
        <p:spPr>
          <a:xfrm>
            <a:off x="6180534" y="5057537"/>
            <a:ext cx="2269331" cy="248960"/>
          </a:xfrm>
          <a:prstGeom prst="rect">
            <a:avLst/>
          </a:prstGeom>
          <a:noFill/>
          <a:ln/>
        </p:spPr>
        <p:txBody>
          <a:bodyPr wrap="none" lIns="0" tIns="0" rIns="0" bIns="0" rtlCol="0" anchor="t"/>
          <a:lstStyle/>
          <a:p>
            <a:pPr marL="0" indent="0" algn="l">
              <a:lnSpc>
                <a:spcPts val="1950"/>
              </a:lnSpc>
              <a:buNone/>
            </a:pPr>
            <a:r>
              <a:rPr lang="en-US" sz="1200" dirty="0">
                <a:solidFill>
                  <a:srgbClr val="F9EEE7"/>
                </a:solidFill>
                <a:latin typeface="Quattrocento" pitchFamily="34" charset="0"/>
                <a:ea typeface="Quattrocento" pitchFamily="34" charset="-122"/>
                <a:cs typeface="Quattrocento" pitchFamily="34" charset="-120"/>
              </a:rPr>
              <a:t>31.41</a:t>
            </a:r>
            <a:endParaRPr lang="en-US" sz="1200" dirty="0"/>
          </a:p>
        </p:txBody>
      </p:sp>
      <p:sp>
        <p:nvSpPr>
          <p:cNvPr id="26" name="Text 24"/>
          <p:cNvSpPr/>
          <p:nvPr/>
        </p:nvSpPr>
        <p:spPr>
          <a:xfrm>
            <a:off x="8768477" y="5057537"/>
            <a:ext cx="2269331" cy="248960"/>
          </a:xfrm>
          <a:prstGeom prst="rect">
            <a:avLst/>
          </a:prstGeom>
          <a:noFill/>
          <a:ln/>
        </p:spPr>
        <p:txBody>
          <a:bodyPr wrap="none" lIns="0" tIns="0" rIns="0" bIns="0" rtlCol="0" anchor="t"/>
          <a:lstStyle/>
          <a:p>
            <a:pPr marL="0" indent="0" algn="l">
              <a:lnSpc>
                <a:spcPts val="1950"/>
              </a:lnSpc>
              <a:buNone/>
            </a:pPr>
            <a:r>
              <a:rPr lang="en-US" sz="1200" dirty="0">
                <a:solidFill>
                  <a:srgbClr val="F9EEE7"/>
                </a:solidFill>
                <a:latin typeface="Quattrocento" pitchFamily="34" charset="0"/>
                <a:ea typeface="Quattrocento" pitchFamily="34" charset="-122"/>
                <a:cs typeface="Quattrocento" pitchFamily="34" charset="-120"/>
              </a:rPr>
              <a:t>0.496</a:t>
            </a:r>
            <a:endParaRPr lang="en-US" sz="1200" dirty="0"/>
          </a:p>
        </p:txBody>
      </p:sp>
      <p:sp>
        <p:nvSpPr>
          <p:cNvPr id="27" name="Text 25"/>
          <p:cNvSpPr/>
          <p:nvPr/>
        </p:nvSpPr>
        <p:spPr>
          <a:xfrm>
            <a:off x="11356419" y="5057537"/>
            <a:ext cx="2273141" cy="248960"/>
          </a:xfrm>
          <a:prstGeom prst="rect">
            <a:avLst/>
          </a:prstGeom>
          <a:noFill/>
          <a:ln/>
        </p:spPr>
        <p:txBody>
          <a:bodyPr wrap="none" lIns="0" tIns="0" rIns="0" bIns="0" rtlCol="0" anchor="t"/>
          <a:lstStyle/>
          <a:p>
            <a:pPr marL="0" indent="0" algn="l">
              <a:lnSpc>
                <a:spcPts val="1950"/>
              </a:lnSpc>
              <a:buNone/>
            </a:pPr>
            <a:r>
              <a:rPr lang="en-US" sz="1200" dirty="0">
                <a:solidFill>
                  <a:srgbClr val="F9EEE7"/>
                </a:solidFill>
                <a:latin typeface="Quattrocento" pitchFamily="34" charset="0"/>
                <a:ea typeface="Quattrocento" pitchFamily="34" charset="-122"/>
                <a:cs typeface="Quattrocento" pitchFamily="34" charset="-120"/>
              </a:rPr>
              <a:t>0.834</a:t>
            </a:r>
            <a:endParaRPr lang="en-US" sz="1200" dirty="0"/>
          </a:p>
        </p:txBody>
      </p:sp>
      <p:sp>
        <p:nvSpPr>
          <p:cNvPr id="28" name="Shape 26"/>
          <p:cNvSpPr/>
          <p:nvPr/>
        </p:nvSpPr>
        <p:spPr>
          <a:xfrm>
            <a:off x="845344" y="5407462"/>
            <a:ext cx="12939713" cy="450890"/>
          </a:xfrm>
          <a:prstGeom prst="rect">
            <a:avLst/>
          </a:prstGeom>
          <a:solidFill>
            <a:srgbClr val="000000">
              <a:alpha val="4000"/>
            </a:srgbClr>
          </a:solidFill>
          <a:ln/>
        </p:spPr>
      </p:sp>
      <p:sp>
        <p:nvSpPr>
          <p:cNvPr id="29" name="Text 27"/>
          <p:cNvSpPr/>
          <p:nvPr/>
        </p:nvSpPr>
        <p:spPr>
          <a:xfrm>
            <a:off x="1000839" y="5508427"/>
            <a:ext cx="2273141" cy="248960"/>
          </a:xfrm>
          <a:prstGeom prst="rect">
            <a:avLst/>
          </a:prstGeom>
          <a:noFill/>
          <a:ln/>
        </p:spPr>
        <p:txBody>
          <a:bodyPr wrap="none" lIns="0" tIns="0" rIns="0" bIns="0" rtlCol="0" anchor="t"/>
          <a:lstStyle/>
          <a:p>
            <a:pPr marL="0" indent="0" algn="l">
              <a:lnSpc>
                <a:spcPts val="1950"/>
              </a:lnSpc>
              <a:buNone/>
            </a:pPr>
            <a:r>
              <a:rPr lang="en-US" sz="1200" dirty="0">
                <a:solidFill>
                  <a:srgbClr val="F9EEE7"/>
                </a:solidFill>
                <a:latin typeface="Quattrocento" pitchFamily="34" charset="0"/>
                <a:ea typeface="Quattrocento" pitchFamily="34" charset="-122"/>
                <a:cs typeface="Quattrocento" pitchFamily="34" charset="-120"/>
              </a:rPr>
              <a:t>Memory (freq_asc_p25)</a:t>
            </a:r>
            <a:endParaRPr lang="en-US" sz="1200" dirty="0"/>
          </a:p>
        </p:txBody>
      </p:sp>
      <p:sp>
        <p:nvSpPr>
          <p:cNvPr id="30" name="Text 28"/>
          <p:cNvSpPr/>
          <p:nvPr/>
        </p:nvSpPr>
        <p:spPr>
          <a:xfrm>
            <a:off x="3592592" y="5508427"/>
            <a:ext cx="2269331" cy="248960"/>
          </a:xfrm>
          <a:prstGeom prst="rect">
            <a:avLst/>
          </a:prstGeom>
          <a:noFill/>
          <a:ln/>
        </p:spPr>
        <p:txBody>
          <a:bodyPr wrap="none" lIns="0" tIns="0" rIns="0" bIns="0" rtlCol="0" anchor="t"/>
          <a:lstStyle/>
          <a:p>
            <a:pPr marL="0" indent="0" algn="l">
              <a:lnSpc>
                <a:spcPts val="1950"/>
              </a:lnSpc>
              <a:buNone/>
            </a:pPr>
            <a:r>
              <a:rPr lang="en-US" sz="1200" dirty="0">
                <a:solidFill>
                  <a:srgbClr val="F9EEE7"/>
                </a:solidFill>
                <a:latin typeface="Quattrocento" pitchFamily="34" charset="0"/>
                <a:ea typeface="Quattrocento" pitchFamily="34" charset="-122"/>
                <a:cs typeface="Quattrocento" pitchFamily="34" charset="-120"/>
              </a:rPr>
              <a:t>Barendri</a:t>
            </a:r>
            <a:endParaRPr lang="en-US" sz="1200" dirty="0"/>
          </a:p>
        </p:txBody>
      </p:sp>
      <p:sp>
        <p:nvSpPr>
          <p:cNvPr id="31" name="Text 29"/>
          <p:cNvSpPr/>
          <p:nvPr/>
        </p:nvSpPr>
        <p:spPr>
          <a:xfrm>
            <a:off x="6180534" y="5508427"/>
            <a:ext cx="2269331" cy="248960"/>
          </a:xfrm>
          <a:prstGeom prst="rect">
            <a:avLst/>
          </a:prstGeom>
          <a:noFill/>
          <a:ln/>
        </p:spPr>
        <p:txBody>
          <a:bodyPr wrap="none" lIns="0" tIns="0" rIns="0" bIns="0" rtlCol="0" anchor="t"/>
          <a:lstStyle/>
          <a:p>
            <a:pPr marL="0" indent="0" algn="l">
              <a:lnSpc>
                <a:spcPts val="1950"/>
              </a:lnSpc>
              <a:buNone/>
            </a:pPr>
            <a:r>
              <a:rPr lang="en-US" sz="1200" dirty="0">
                <a:solidFill>
                  <a:srgbClr val="F9EEE7"/>
                </a:solidFill>
                <a:latin typeface="Quattrocento" pitchFamily="34" charset="0"/>
                <a:ea typeface="Quattrocento" pitchFamily="34" charset="-122"/>
                <a:cs typeface="Quattrocento" pitchFamily="34" charset="-120"/>
              </a:rPr>
              <a:t>26.73</a:t>
            </a:r>
            <a:endParaRPr lang="en-US" sz="1200" dirty="0"/>
          </a:p>
        </p:txBody>
      </p:sp>
      <p:sp>
        <p:nvSpPr>
          <p:cNvPr id="32" name="Text 30"/>
          <p:cNvSpPr/>
          <p:nvPr/>
        </p:nvSpPr>
        <p:spPr>
          <a:xfrm>
            <a:off x="8768477" y="5508427"/>
            <a:ext cx="2269331" cy="248960"/>
          </a:xfrm>
          <a:prstGeom prst="rect">
            <a:avLst/>
          </a:prstGeom>
          <a:noFill/>
          <a:ln/>
        </p:spPr>
        <p:txBody>
          <a:bodyPr wrap="none" lIns="0" tIns="0" rIns="0" bIns="0" rtlCol="0" anchor="t"/>
          <a:lstStyle/>
          <a:p>
            <a:pPr marL="0" indent="0" algn="l">
              <a:lnSpc>
                <a:spcPts val="1950"/>
              </a:lnSpc>
              <a:buNone/>
            </a:pPr>
            <a:r>
              <a:rPr lang="en-US" sz="1200" dirty="0">
                <a:solidFill>
                  <a:srgbClr val="F9EEE7"/>
                </a:solidFill>
                <a:latin typeface="Quattrocento" pitchFamily="34" charset="0"/>
                <a:ea typeface="Quattrocento" pitchFamily="34" charset="-122"/>
                <a:cs typeface="Quattrocento" pitchFamily="34" charset="-120"/>
              </a:rPr>
              <a:t>0.467</a:t>
            </a:r>
            <a:endParaRPr lang="en-US" sz="1200" dirty="0"/>
          </a:p>
        </p:txBody>
      </p:sp>
      <p:sp>
        <p:nvSpPr>
          <p:cNvPr id="33" name="Text 31"/>
          <p:cNvSpPr/>
          <p:nvPr/>
        </p:nvSpPr>
        <p:spPr>
          <a:xfrm>
            <a:off x="11356419" y="5508427"/>
            <a:ext cx="2273141" cy="248960"/>
          </a:xfrm>
          <a:prstGeom prst="rect">
            <a:avLst/>
          </a:prstGeom>
          <a:noFill/>
          <a:ln/>
        </p:spPr>
        <p:txBody>
          <a:bodyPr wrap="none" lIns="0" tIns="0" rIns="0" bIns="0" rtlCol="0" anchor="t"/>
          <a:lstStyle/>
          <a:p>
            <a:pPr marL="0" indent="0" algn="l">
              <a:lnSpc>
                <a:spcPts val="1950"/>
              </a:lnSpc>
              <a:buNone/>
            </a:pPr>
            <a:r>
              <a:rPr lang="en-US" sz="1200" dirty="0">
                <a:solidFill>
                  <a:srgbClr val="F9EEE7"/>
                </a:solidFill>
                <a:latin typeface="Quattrocento" pitchFamily="34" charset="0"/>
                <a:ea typeface="Quattrocento" pitchFamily="34" charset="-122"/>
                <a:cs typeface="Quattrocento" pitchFamily="34" charset="-120"/>
              </a:rPr>
              <a:t>0.821</a:t>
            </a:r>
            <a:endParaRPr lang="en-US" sz="1200" dirty="0"/>
          </a:p>
        </p:txBody>
      </p:sp>
      <p:sp>
        <p:nvSpPr>
          <p:cNvPr id="34" name="Shape 32"/>
          <p:cNvSpPr/>
          <p:nvPr/>
        </p:nvSpPr>
        <p:spPr>
          <a:xfrm>
            <a:off x="845344" y="5858351"/>
            <a:ext cx="12939713" cy="450890"/>
          </a:xfrm>
          <a:prstGeom prst="rect">
            <a:avLst/>
          </a:prstGeom>
          <a:solidFill>
            <a:srgbClr val="FFFFFF">
              <a:alpha val="4000"/>
            </a:srgbClr>
          </a:solidFill>
          <a:ln/>
        </p:spPr>
      </p:sp>
      <p:sp>
        <p:nvSpPr>
          <p:cNvPr id="35" name="Text 33"/>
          <p:cNvSpPr/>
          <p:nvPr/>
        </p:nvSpPr>
        <p:spPr>
          <a:xfrm>
            <a:off x="1000839" y="5959316"/>
            <a:ext cx="2273141" cy="248960"/>
          </a:xfrm>
          <a:prstGeom prst="rect">
            <a:avLst/>
          </a:prstGeom>
          <a:noFill/>
          <a:ln/>
        </p:spPr>
        <p:txBody>
          <a:bodyPr wrap="none" lIns="0" tIns="0" rIns="0" bIns="0" rtlCol="0" anchor="t"/>
          <a:lstStyle/>
          <a:p>
            <a:pPr marL="0" indent="0" algn="l">
              <a:lnSpc>
                <a:spcPts val="1950"/>
              </a:lnSpc>
              <a:buNone/>
            </a:pPr>
            <a:r>
              <a:rPr lang="en-US" sz="1200" dirty="0">
                <a:solidFill>
                  <a:srgbClr val="F9EEE7"/>
                </a:solidFill>
                <a:latin typeface="Quattrocento" pitchFamily="34" charset="0"/>
                <a:ea typeface="Quattrocento" pitchFamily="34" charset="-122"/>
                <a:cs typeface="Quattrocento" pitchFamily="34" charset="-120"/>
              </a:rPr>
              <a:t>Base</a:t>
            </a:r>
            <a:endParaRPr lang="en-US" sz="1200" dirty="0"/>
          </a:p>
        </p:txBody>
      </p:sp>
      <p:sp>
        <p:nvSpPr>
          <p:cNvPr id="36" name="Text 34"/>
          <p:cNvSpPr/>
          <p:nvPr/>
        </p:nvSpPr>
        <p:spPr>
          <a:xfrm>
            <a:off x="3592592" y="5959316"/>
            <a:ext cx="2269331" cy="248960"/>
          </a:xfrm>
          <a:prstGeom prst="rect">
            <a:avLst/>
          </a:prstGeom>
          <a:noFill/>
          <a:ln/>
        </p:spPr>
        <p:txBody>
          <a:bodyPr wrap="none" lIns="0" tIns="0" rIns="0" bIns="0" rtlCol="0" anchor="t"/>
          <a:lstStyle/>
          <a:p>
            <a:pPr marL="0" indent="0" algn="l">
              <a:lnSpc>
                <a:spcPts val="1950"/>
              </a:lnSpc>
              <a:buNone/>
            </a:pPr>
            <a:r>
              <a:rPr lang="en-US" sz="1200" dirty="0">
                <a:solidFill>
                  <a:srgbClr val="F9EEE7"/>
                </a:solidFill>
                <a:latin typeface="Quattrocento" pitchFamily="34" charset="0"/>
                <a:ea typeface="Quattrocento" pitchFamily="34" charset="-122"/>
                <a:cs typeface="Quattrocento" pitchFamily="34" charset="-120"/>
              </a:rPr>
              <a:t>Chittagong</a:t>
            </a:r>
            <a:endParaRPr lang="en-US" sz="1200" dirty="0"/>
          </a:p>
        </p:txBody>
      </p:sp>
      <p:sp>
        <p:nvSpPr>
          <p:cNvPr id="37" name="Text 35"/>
          <p:cNvSpPr/>
          <p:nvPr/>
        </p:nvSpPr>
        <p:spPr>
          <a:xfrm>
            <a:off x="6180534" y="5959316"/>
            <a:ext cx="2269331" cy="248960"/>
          </a:xfrm>
          <a:prstGeom prst="rect">
            <a:avLst/>
          </a:prstGeom>
          <a:noFill/>
          <a:ln/>
        </p:spPr>
        <p:txBody>
          <a:bodyPr wrap="none" lIns="0" tIns="0" rIns="0" bIns="0" rtlCol="0" anchor="t"/>
          <a:lstStyle/>
          <a:p>
            <a:pPr marL="0" indent="0" algn="l">
              <a:lnSpc>
                <a:spcPts val="1950"/>
              </a:lnSpc>
              <a:buNone/>
            </a:pPr>
            <a:r>
              <a:rPr lang="en-US" sz="1200" dirty="0">
                <a:solidFill>
                  <a:srgbClr val="F9EEE7"/>
                </a:solidFill>
                <a:latin typeface="Quattrocento" pitchFamily="34" charset="0"/>
                <a:ea typeface="Quattrocento" pitchFamily="34" charset="-122"/>
                <a:cs typeface="Quattrocento" pitchFamily="34" charset="-120"/>
              </a:rPr>
              <a:t>17.50</a:t>
            </a:r>
            <a:endParaRPr lang="en-US" sz="1200" dirty="0"/>
          </a:p>
        </p:txBody>
      </p:sp>
      <p:sp>
        <p:nvSpPr>
          <p:cNvPr id="38" name="Text 36"/>
          <p:cNvSpPr/>
          <p:nvPr/>
        </p:nvSpPr>
        <p:spPr>
          <a:xfrm>
            <a:off x="8768477" y="5959316"/>
            <a:ext cx="2269331" cy="248960"/>
          </a:xfrm>
          <a:prstGeom prst="rect">
            <a:avLst/>
          </a:prstGeom>
          <a:noFill/>
          <a:ln/>
        </p:spPr>
        <p:txBody>
          <a:bodyPr wrap="none" lIns="0" tIns="0" rIns="0" bIns="0" rtlCol="0" anchor="t"/>
          <a:lstStyle/>
          <a:p>
            <a:pPr marL="0" indent="0" algn="l">
              <a:lnSpc>
                <a:spcPts val="1950"/>
              </a:lnSpc>
              <a:buNone/>
            </a:pPr>
            <a:r>
              <a:rPr lang="en-US" sz="1200" dirty="0">
                <a:solidFill>
                  <a:srgbClr val="F9EEE7"/>
                </a:solidFill>
                <a:latin typeface="Quattrocento" pitchFamily="34" charset="0"/>
                <a:ea typeface="Quattrocento" pitchFamily="34" charset="-122"/>
                <a:cs typeface="Quattrocento" pitchFamily="34" charset="-120"/>
              </a:rPr>
              <a:t>0.354</a:t>
            </a:r>
            <a:endParaRPr lang="en-US" sz="1200" dirty="0"/>
          </a:p>
        </p:txBody>
      </p:sp>
      <p:sp>
        <p:nvSpPr>
          <p:cNvPr id="39" name="Text 37"/>
          <p:cNvSpPr/>
          <p:nvPr/>
        </p:nvSpPr>
        <p:spPr>
          <a:xfrm>
            <a:off x="11356419" y="5959316"/>
            <a:ext cx="2273141" cy="248960"/>
          </a:xfrm>
          <a:prstGeom prst="rect">
            <a:avLst/>
          </a:prstGeom>
          <a:noFill/>
          <a:ln/>
        </p:spPr>
        <p:txBody>
          <a:bodyPr wrap="none" lIns="0" tIns="0" rIns="0" bIns="0" rtlCol="0" anchor="t"/>
          <a:lstStyle/>
          <a:p>
            <a:pPr marL="0" indent="0" algn="l">
              <a:lnSpc>
                <a:spcPts val="1950"/>
              </a:lnSpc>
              <a:buNone/>
            </a:pPr>
            <a:r>
              <a:rPr lang="en-US" sz="1200" dirty="0">
                <a:solidFill>
                  <a:srgbClr val="F9EEE7"/>
                </a:solidFill>
                <a:latin typeface="Quattrocento" pitchFamily="34" charset="0"/>
                <a:ea typeface="Quattrocento" pitchFamily="34" charset="-122"/>
                <a:cs typeface="Quattrocento" pitchFamily="34" charset="-120"/>
              </a:rPr>
              <a:t>0.765</a:t>
            </a:r>
            <a:endParaRPr lang="en-US" sz="1200" dirty="0"/>
          </a:p>
        </p:txBody>
      </p:sp>
      <p:sp>
        <p:nvSpPr>
          <p:cNvPr id="40" name="Shape 38"/>
          <p:cNvSpPr/>
          <p:nvPr/>
        </p:nvSpPr>
        <p:spPr>
          <a:xfrm>
            <a:off x="845344" y="6309241"/>
            <a:ext cx="12939713" cy="450890"/>
          </a:xfrm>
          <a:prstGeom prst="rect">
            <a:avLst/>
          </a:prstGeom>
          <a:solidFill>
            <a:srgbClr val="000000">
              <a:alpha val="4000"/>
            </a:srgbClr>
          </a:solidFill>
          <a:ln/>
        </p:spPr>
      </p:sp>
      <p:sp>
        <p:nvSpPr>
          <p:cNvPr id="41" name="Text 39"/>
          <p:cNvSpPr/>
          <p:nvPr/>
        </p:nvSpPr>
        <p:spPr>
          <a:xfrm>
            <a:off x="1000839" y="6410206"/>
            <a:ext cx="2273141" cy="248960"/>
          </a:xfrm>
          <a:prstGeom prst="rect">
            <a:avLst/>
          </a:prstGeom>
          <a:noFill/>
          <a:ln/>
        </p:spPr>
        <p:txBody>
          <a:bodyPr wrap="none" lIns="0" tIns="0" rIns="0" bIns="0" rtlCol="0" anchor="t"/>
          <a:lstStyle/>
          <a:p>
            <a:pPr marL="0" indent="0" algn="l">
              <a:lnSpc>
                <a:spcPts val="1950"/>
              </a:lnSpc>
              <a:buNone/>
            </a:pPr>
            <a:r>
              <a:rPr lang="en-US" sz="1200" dirty="0">
                <a:solidFill>
                  <a:srgbClr val="F9EEE7"/>
                </a:solidFill>
                <a:latin typeface="Quattrocento" pitchFamily="34" charset="0"/>
                <a:ea typeface="Quattrocento" pitchFamily="34" charset="-122"/>
                <a:cs typeface="Quattrocento" pitchFamily="34" charset="-120"/>
              </a:rPr>
              <a:t>Memory (best)</a:t>
            </a:r>
            <a:endParaRPr lang="en-US" sz="1200" dirty="0"/>
          </a:p>
        </p:txBody>
      </p:sp>
      <p:sp>
        <p:nvSpPr>
          <p:cNvPr id="42" name="Text 40"/>
          <p:cNvSpPr/>
          <p:nvPr/>
        </p:nvSpPr>
        <p:spPr>
          <a:xfrm>
            <a:off x="3592592" y="6410206"/>
            <a:ext cx="2269331" cy="248960"/>
          </a:xfrm>
          <a:prstGeom prst="rect">
            <a:avLst/>
          </a:prstGeom>
          <a:noFill/>
          <a:ln/>
        </p:spPr>
        <p:txBody>
          <a:bodyPr wrap="none" lIns="0" tIns="0" rIns="0" bIns="0" rtlCol="0" anchor="t"/>
          <a:lstStyle/>
          <a:p>
            <a:pPr marL="0" indent="0" algn="l">
              <a:lnSpc>
                <a:spcPts val="1950"/>
              </a:lnSpc>
              <a:buNone/>
            </a:pPr>
            <a:r>
              <a:rPr lang="en-US" sz="1200" dirty="0">
                <a:solidFill>
                  <a:srgbClr val="F9EEE7"/>
                </a:solidFill>
                <a:latin typeface="Quattrocento" pitchFamily="34" charset="0"/>
                <a:ea typeface="Quattrocento" pitchFamily="34" charset="-122"/>
                <a:cs typeface="Quattrocento" pitchFamily="34" charset="-120"/>
              </a:rPr>
              <a:t>Chittagong</a:t>
            </a:r>
            <a:endParaRPr lang="en-US" sz="1200" dirty="0"/>
          </a:p>
        </p:txBody>
      </p:sp>
      <p:sp>
        <p:nvSpPr>
          <p:cNvPr id="43" name="Text 41"/>
          <p:cNvSpPr/>
          <p:nvPr/>
        </p:nvSpPr>
        <p:spPr>
          <a:xfrm>
            <a:off x="6180534" y="6410206"/>
            <a:ext cx="2269331" cy="248960"/>
          </a:xfrm>
          <a:prstGeom prst="rect">
            <a:avLst/>
          </a:prstGeom>
          <a:noFill/>
          <a:ln/>
        </p:spPr>
        <p:txBody>
          <a:bodyPr wrap="none" lIns="0" tIns="0" rIns="0" bIns="0" rtlCol="0" anchor="t"/>
          <a:lstStyle/>
          <a:p>
            <a:pPr marL="0" indent="0" algn="l">
              <a:lnSpc>
                <a:spcPts val="1950"/>
              </a:lnSpc>
              <a:buNone/>
            </a:pPr>
            <a:r>
              <a:rPr lang="en-US" sz="1200" dirty="0">
                <a:solidFill>
                  <a:srgbClr val="F9EEE7"/>
                </a:solidFill>
                <a:latin typeface="Quattrocento" pitchFamily="34" charset="0"/>
                <a:ea typeface="Quattrocento" pitchFamily="34" charset="-122"/>
                <a:cs typeface="Quattrocento" pitchFamily="34" charset="-120"/>
              </a:rPr>
              <a:t>22.36</a:t>
            </a:r>
            <a:endParaRPr lang="en-US" sz="1200" dirty="0"/>
          </a:p>
        </p:txBody>
      </p:sp>
      <p:sp>
        <p:nvSpPr>
          <p:cNvPr id="44" name="Text 42"/>
          <p:cNvSpPr/>
          <p:nvPr/>
        </p:nvSpPr>
        <p:spPr>
          <a:xfrm>
            <a:off x="8768477" y="6410206"/>
            <a:ext cx="2269331" cy="248960"/>
          </a:xfrm>
          <a:prstGeom prst="rect">
            <a:avLst/>
          </a:prstGeom>
          <a:noFill/>
          <a:ln/>
        </p:spPr>
        <p:txBody>
          <a:bodyPr wrap="none" lIns="0" tIns="0" rIns="0" bIns="0" rtlCol="0" anchor="t"/>
          <a:lstStyle/>
          <a:p>
            <a:pPr marL="0" indent="0" algn="l">
              <a:lnSpc>
                <a:spcPts val="1950"/>
              </a:lnSpc>
              <a:buNone/>
            </a:pPr>
            <a:r>
              <a:rPr lang="en-US" sz="1200" dirty="0">
                <a:solidFill>
                  <a:srgbClr val="F9EEE7"/>
                </a:solidFill>
                <a:latin typeface="Quattrocento" pitchFamily="34" charset="0"/>
                <a:ea typeface="Quattrocento" pitchFamily="34" charset="-122"/>
                <a:cs typeface="Quattrocento" pitchFamily="34" charset="-120"/>
              </a:rPr>
              <a:t>0.399</a:t>
            </a:r>
            <a:endParaRPr lang="en-US" sz="1200" dirty="0"/>
          </a:p>
        </p:txBody>
      </p:sp>
      <p:sp>
        <p:nvSpPr>
          <p:cNvPr id="45" name="Text 43"/>
          <p:cNvSpPr/>
          <p:nvPr/>
        </p:nvSpPr>
        <p:spPr>
          <a:xfrm>
            <a:off x="11356419" y="6410206"/>
            <a:ext cx="2273141" cy="248960"/>
          </a:xfrm>
          <a:prstGeom prst="rect">
            <a:avLst/>
          </a:prstGeom>
          <a:noFill/>
          <a:ln/>
        </p:spPr>
        <p:txBody>
          <a:bodyPr wrap="none" lIns="0" tIns="0" rIns="0" bIns="0" rtlCol="0" anchor="t"/>
          <a:lstStyle/>
          <a:p>
            <a:pPr marL="0" indent="0" algn="l">
              <a:lnSpc>
                <a:spcPts val="1950"/>
              </a:lnSpc>
              <a:buNone/>
            </a:pPr>
            <a:r>
              <a:rPr lang="en-US" sz="1200" dirty="0">
                <a:solidFill>
                  <a:srgbClr val="F9EEE7"/>
                </a:solidFill>
                <a:latin typeface="Quattrocento" pitchFamily="34" charset="0"/>
                <a:ea typeface="Quattrocento" pitchFamily="34" charset="-122"/>
                <a:cs typeface="Quattrocento" pitchFamily="34" charset="-120"/>
              </a:rPr>
              <a:t>0.799</a:t>
            </a:r>
            <a:endParaRPr lang="en-US" sz="1200" dirty="0"/>
          </a:p>
        </p:txBody>
      </p:sp>
      <p:sp>
        <p:nvSpPr>
          <p:cNvPr id="46" name="Text 44"/>
          <p:cNvSpPr/>
          <p:nvPr/>
        </p:nvSpPr>
        <p:spPr>
          <a:xfrm>
            <a:off x="837724" y="6942773"/>
            <a:ext cx="12954952" cy="248960"/>
          </a:xfrm>
          <a:prstGeom prst="rect">
            <a:avLst/>
          </a:prstGeom>
          <a:noFill/>
          <a:ln/>
        </p:spPr>
        <p:txBody>
          <a:bodyPr wrap="none" lIns="0" tIns="0" rIns="0" bIns="0" rtlCol="0" anchor="t"/>
          <a:lstStyle/>
          <a:p>
            <a:pPr marL="0" indent="0" algn="l">
              <a:lnSpc>
                <a:spcPts val="1950"/>
              </a:lnSpc>
              <a:buNone/>
            </a:pP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837724" y="2305645"/>
            <a:ext cx="6351984" cy="704017"/>
          </a:xfrm>
          <a:prstGeom prst="rect">
            <a:avLst/>
          </a:prstGeom>
          <a:noFill/>
          <a:ln/>
        </p:spPr>
        <p:txBody>
          <a:bodyPr wrap="none" lIns="0" tIns="0" rIns="0" bIns="0" rtlCol="0" anchor="t"/>
          <a:lstStyle/>
          <a:p>
            <a:pPr marL="0" indent="0" algn="l">
              <a:lnSpc>
                <a:spcPts val="5500"/>
              </a:lnSpc>
              <a:buNone/>
            </a:pPr>
            <a:r>
              <a:rPr lang="en-US" sz="4400" dirty="0">
                <a:solidFill>
                  <a:srgbClr val="FFD9BE"/>
                </a:solidFill>
                <a:latin typeface="Quattrocento" pitchFamily="34" charset="0"/>
                <a:ea typeface="Quattrocento" pitchFamily="34" charset="-122"/>
                <a:cs typeface="Quattrocento" pitchFamily="34" charset="-120"/>
              </a:rPr>
              <a:t>Results - Ablation Trends</a:t>
            </a:r>
            <a:endParaRPr lang="en-US" sz="4400" dirty="0"/>
          </a:p>
        </p:txBody>
      </p:sp>
      <p:sp>
        <p:nvSpPr>
          <p:cNvPr id="3" name="Text 1"/>
          <p:cNvSpPr/>
          <p:nvPr/>
        </p:nvSpPr>
        <p:spPr>
          <a:xfrm>
            <a:off x="837724" y="3488412"/>
            <a:ext cx="12954952"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Frequency-Asc (p25): Best for Barendri subtle shifts (BLEU 25.17, +0.74 over Attn)</a:t>
            </a:r>
            <a:endParaRPr lang="en-US" sz="1850" dirty="0"/>
          </a:p>
        </p:txBody>
      </p:sp>
      <p:sp>
        <p:nvSpPr>
          <p:cNvPr id="4" name="Text 2"/>
          <p:cNvSpPr/>
          <p:nvPr/>
        </p:nvSpPr>
        <p:spPr>
          <a:xfrm>
            <a:off x="837724" y="3955137"/>
            <a:ext cx="12954952"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Attention-Desc: Variance on Chittagong (ROUGE-L p50: 0.765 vs. p75: 0.764)</a:t>
            </a:r>
            <a:endParaRPr lang="en-US" sz="1850" dirty="0"/>
          </a:p>
        </p:txBody>
      </p:sp>
      <p:sp>
        <p:nvSpPr>
          <p:cNvPr id="5" name="Text 3"/>
          <p:cNvSpPr/>
          <p:nvPr/>
        </p:nvSpPr>
        <p:spPr>
          <a:xfrm>
            <a:off x="837724" y="4421862"/>
            <a:ext cx="12954952"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Key Insight: Freq excels on low-freq phonetics (vowel harmony); Attn struggles with fricatives</a:t>
            </a:r>
            <a:endParaRPr lang="en-US" sz="1850" dirty="0"/>
          </a:p>
        </p:txBody>
      </p:sp>
      <p:sp>
        <p:nvSpPr>
          <p:cNvPr id="6" name="Text 4"/>
          <p:cNvSpPr/>
          <p:nvPr/>
        </p:nvSpPr>
        <p:spPr>
          <a:xfrm>
            <a:off x="837724" y="4888587"/>
            <a:ext cx="12954952"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Uplift: +10.12 (Barendri low-div) vs. +4.86 (Chittagong high-div)</a:t>
            </a:r>
            <a:endParaRPr lang="en-US" sz="1850" dirty="0"/>
          </a:p>
        </p:txBody>
      </p:sp>
      <p:sp>
        <p:nvSpPr>
          <p:cNvPr id="7" name="Text 5"/>
          <p:cNvSpPr/>
          <p:nvPr/>
        </p:nvSpPr>
        <p:spPr>
          <a:xfrm>
            <a:off x="837724" y="5540812"/>
            <a:ext cx="12954952" cy="383024"/>
          </a:xfrm>
          <a:prstGeom prst="rect">
            <a:avLst/>
          </a:prstGeom>
          <a:noFill/>
          <a:ln/>
        </p:spPr>
        <p:txBody>
          <a:bodyPr wrap="none" lIns="0" tIns="0" rIns="0" bIns="0" rtlCol="0" anchor="t"/>
          <a:lstStyle/>
          <a:p>
            <a:pPr marL="0" indent="0" algn="l">
              <a:lnSpc>
                <a:spcPts val="3000"/>
              </a:lnSpc>
              <a:buNone/>
            </a:pPr>
            <a:endParaRPr lang="en-US" sz="1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837724" y="2539008"/>
            <a:ext cx="5632490" cy="704017"/>
          </a:xfrm>
          <a:prstGeom prst="rect">
            <a:avLst/>
          </a:prstGeom>
          <a:noFill/>
          <a:ln/>
        </p:spPr>
        <p:txBody>
          <a:bodyPr wrap="none" lIns="0" tIns="0" rIns="0" bIns="0" rtlCol="0" anchor="t"/>
          <a:lstStyle/>
          <a:p>
            <a:pPr>
              <a:lnSpc>
                <a:spcPts val="5500"/>
              </a:lnSpc>
            </a:pPr>
            <a:r>
              <a:rPr lang="en-US" sz="4400" dirty="0">
                <a:solidFill>
                  <a:srgbClr val="FFD9BE"/>
                </a:solidFill>
                <a:latin typeface="Quattrocento" pitchFamily="34" charset="0"/>
                <a:ea typeface="Quattrocento" pitchFamily="34" charset="-122"/>
                <a:cs typeface="Quattrocento" pitchFamily="34" charset="-120"/>
              </a:rPr>
              <a:t>Qualitative Examples &amp; Linguistic Ties</a:t>
            </a:r>
            <a:endParaRPr lang="en-US" sz="4400" dirty="0"/>
          </a:p>
          <a:p>
            <a:pPr marL="0" indent="0" algn="l">
              <a:lnSpc>
                <a:spcPts val="5500"/>
              </a:lnSpc>
              <a:buNone/>
            </a:pPr>
            <a:endParaRPr lang="en-US" sz="4400" dirty="0"/>
          </a:p>
        </p:txBody>
      </p:sp>
      <p:sp>
        <p:nvSpPr>
          <p:cNvPr id="3" name="Text 1"/>
          <p:cNvSpPr/>
          <p:nvPr/>
        </p:nvSpPr>
        <p:spPr>
          <a:xfrm>
            <a:off x="837724" y="3721775"/>
            <a:ext cx="12954952"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Barendri Input: ভাইটাক দেখিস গোকুল। | Generated: ভাইটাকে দেখিস গোকুল। (Morph fix: টাক → টাকে)</a:t>
            </a:r>
            <a:endParaRPr lang="en-US" sz="1850" dirty="0"/>
          </a:p>
        </p:txBody>
      </p:sp>
      <p:sp>
        <p:nvSpPr>
          <p:cNvPr id="4" name="Text 2"/>
          <p:cNvSpPr/>
          <p:nvPr/>
        </p:nvSpPr>
        <p:spPr>
          <a:xfrm>
            <a:off x="837724" y="4188500"/>
            <a:ext cx="12954952"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Chittagong Input: সন্ধ্যার সোমে চোখ মিলি। | Generated: সন্ধ্যার সময় চোখ মেলে। (Phonetic: সোমে → সময়)</a:t>
            </a:r>
            <a:endParaRPr lang="en-US" sz="1850" dirty="0"/>
          </a:p>
        </p:txBody>
      </p:sp>
      <p:sp>
        <p:nvSpPr>
          <p:cNvPr id="5" name="Text 3"/>
          <p:cNvSpPr/>
          <p:nvPr/>
        </p:nvSpPr>
        <p:spPr>
          <a:xfrm>
            <a:off x="837724" y="4655225"/>
            <a:ext cx="12954952"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Memory Aid: Recovers morphology; Struggles with Chittagong loans (e.g., Arabic fricatives)</a:t>
            </a:r>
            <a:endParaRPr lang="en-US" sz="1850" dirty="0"/>
          </a:p>
        </p:txBody>
      </p:sp>
      <p:sp>
        <p:nvSpPr>
          <p:cNvPr id="6" name="Text 4"/>
          <p:cNvSpPr/>
          <p:nvPr/>
        </p:nvSpPr>
        <p:spPr>
          <a:xfrm>
            <a:off x="837724" y="5307449"/>
            <a:ext cx="12954952" cy="383024"/>
          </a:xfrm>
          <a:prstGeom prst="rect">
            <a:avLst/>
          </a:prstGeom>
          <a:noFill/>
          <a:ln/>
        </p:spPr>
        <p:txBody>
          <a:bodyPr wrap="none" lIns="0" tIns="0" rIns="0" bIns="0" rtlCol="0" anchor="t"/>
          <a:lstStyle/>
          <a:p>
            <a:pPr marL="0" indent="0" algn="l">
              <a:lnSpc>
                <a:spcPts val="3000"/>
              </a:lnSpc>
              <a:buNone/>
            </a:pPr>
            <a:endParaRPr lang="en-US" sz="1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837724" y="2305645"/>
            <a:ext cx="5632490" cy="704017"/>
          </a:xfrm>
          <a:prstGeom prst="rect">
            <a:avLst/>
          </a:prstGeom>
          <a:noFill/>
          <a:ln/>
        </p:spPr>
        <p:txBody>
          <a:bodyPr wrap="none" lIns="0" tIns="0" rIns="0" bIns="0" rtlCol="0" anchor="t"/>
          <a:lstStyle/>
          <a:p>
            <a:pPr marL="0" indent="0" algn="l">
              <a:lnSpc>
                <a:spcPts val="5500"/>
              </a:lnSpc>
              <a:buNone/>
            </a:pPr>
            <a:r>
              <a:rPr lang="en-US" sz="4400" dirty="0">
                <a:solidFill>
                  <a:srgbClr val="FFD9BE"/>
                </a:solidFill>
                <a:latin typeface="Quattrocento" pitchFamily="34" charset="0"/>
                <a:ea typeface="Quattrocento" pitchFamily="34" charset="-122"/>
                <a:cs typeface="Quattrocento" pitchFamily="34" charset="-120"/>
              </a:rPr>
              <a:t>Conclusion</a:t>
            </a:r>
            <a:endParaRPr lang="en-US" sz="4400" dirty="0"/>
          </a:p>
        </p:txBody>
      </p:sp>
      <p:sp>
        <p:nvSpPr>
          <p:cNvPr id="3" name="Text 1"/>
          <p:cNvSpPr/>
          <p:nvPr/>
        </p:nvSpPr>
        <p:spPr>
          <a:xfrm>
            <a:off x="837724" y="3488412"/>
            <a:ext cx="12954952"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Achieved: 5K dataset; Memory model boosts BLEU +10% on Barendri, +5% on Chittagong</a:t>
            </a:r>
            <a:endParaRPr lang="en-US" sz="1850" dirty="0"/>
          </a:p>
        </p:txBody>
      </p:sp>
      <p:sp>
        <p:nvSpPr>
          <p:cNvPr id="4" name="Text 2"/>
          <p:cNvSpPr/>
          <p:nvPr/>
        </p:nvSpPr>
        <p:spPr>
          <a:xfrm>
            <a:off x="837724" y="3955137"/>
            <a:ext cx="12954952"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Novelty: Adaptive memory handles phonetic rarities; Ablations reveal freq &gt; attn for low-div</a:t>
            </a:r>
            <a:endParaRPr lang="en-US" sz="1850" dirty="0"/>
          </a:p>
        </p:txBody>
      </p:sp>
      <p:sp>
        <p:nvSpPr>
          <p:cNvPr id="5" name="Text 3"/>
          <p:cNvSpPr/>
          <p:nvPr/>
        </p:nvSpPr>
        <p:spPr>
          <a:xfrm>
            <a:off x="837724" y="4421862"/>
            <a:ext cx="12954952"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Contributions: Insights on dialect continua; Code on GitHub (navshri7/anlp-project)</a:t>
            </a:r>
            <a:endParaRPr lang="en-US" sz="1850" dirty="0"/>
          </a:p>
        </p:txBody>
      </p:sp>
      <p:sp>
        <p:nvSpPr>
          <p:cNvPr id="6" name="Text 4"/>
          <p:cNvSpPr/>
          <p:nvPr/>
        </p:nvSpPr>
        <p:spPr>
          <a:xfrm>
            <a:off x="837724" y="4888587"/>
            <a:ext cx="12954952"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Ties to Linguistics: Gains align with phonetic distance—bridges gaps in near-standards</a:t>
            </a:r>
            <a:endParaRPr lang="en-US" sz="1850" dirty="0"/>
          </a:p>
        </p:txBody>
      </p:sp>
      <p:sp>
        <p:nvSpPr>
          <p:cNvPr id="7" name="Text 5"/>
          <p:cNvSpPr/>
          <p:nvPr/>
        </p:nvSpPr>
        <p:spPr>
          <a:xfrm>
            <a:off x="837724" y="5540812"/>
            <a:ext cx="12954952" cy="383024"/>
          </a:xfrm>
          <a:prstGeom prst="rect">
            <a:avLst/>
          </a:prstGeom>
          <a:noFill/>
          <a:ln/>
        </p:spPr>
        <p:txBody>
          <a:bodyPr wrap="none" lIns="0" tIns="0" rIns="0" bIns="0" rtlCol="0" anchor="t"/>
          <a:lstStyle/>
          <a:p>
            <a:pPr marL="0" indent="0" algn="l">
              <a:lnSpc>
                <a:spcPts val="3000"/>
              </a:lnSpc>
              <a:buNone/>
            </a:pPr>
            <a:endParaRPr lang="en-US" sz="1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837724" y="3198138"/>
            <a:ext cx="7772757" cy="971550"/>
          </a:xfrm>
          <a:prstGeom prst="rect">
            <a:avLst/>
          </a:prstGeom>
          <a:noFill/>
          <a:ln/>
        </p:spPr>
        <p:txBody>
          <a:bodyPr wrap="none" lIns="0" tIns="0" rIns="0" bIns="0" rtlCol="0" anchor="t"/>
          <a:lstStyle/>
          <a:p>
            <a:pPr marL="0" indent="0" algn="l">
              <a:lnSpc>
                <a:spcPts val="7650"/>
              </a:lnSpc>
              <a:buNone/>
            </a:pPr>
            <a:r>
              <a:rPr lang="en-US" sz="6100" dirty="0">
                <a:solidFill>
                  <a:srgbClr val="FFD9BE"/>
                </a:solidFill>
                <a:latin typeface="Quattrocento" pitchFamily="34" charset="0"/>
                <a:ea typeface="Quattrocento" pitchFamily="34" charset="-122"/>
                <a:cs typeface="Quattrocento" pitchFamily="34" charset="-120"/>
              </a:rPr>
              <a:t>Thank You!</a:t>
            </a:r>
            <a:endParaRPr lang="en-US" sz="6100" dirty="0"/>
          </a:p>
        </p:txBody>
      </p:sp>
      <p:sp>
        <p:nvSpPr>
          <p:cNvPr id="3" name="Text 1"/>
          <p:cNvSpPr/>
          <p:nvPr/>
        </p:nvSpPr>
        <p:spPr>
          <a:xfrm>
            <a:off x="837724" y="4648438"/>
            <a:ext cx="12954952" cy="383024"/>
          </a:xfrm>
          <a:prstGeom prst="rect">
            <a:avLst/>
          </a:prstGeom>
          <a:noFill/>
          <a:ln/>
        </p:spPr>
        <p:txBody>
          <a:bodyPr wrap="none" lIns="0" tIns="0" rIns="0" bIns="0" rtlCol="0" anchor="t"/>
          <a:lstStyle/>
          <a:p>
            <a:pPr marL="0" indent="0" algn="l">
              <a:lnSpc>
                <a:spcPts val="3000"/>
              </a:lnSpc>
              <a:buNone/>
            </a:pPr>
            <a:endParaRPr lang="en-US" sz="1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1083</Words>
  <Application>Microsoft Office PowerPoint</Application>
  <PresentationFormat>Custom</PresentationFormat>
  <Paragraphs>119</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Quattrocento</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Bose</dc:creator>
  <cp:lastModifiedBy>Saswata</cp:lastModifiedBy>
  <cp:revision>2</cp:revision>
  <dcterms:created xsi:type="dcterms:W3CDTF">2025-11-07T19:21:23Z</dcterms:created>
  <dcterms:modified xsi:type="dcterms:W3CDTF">2025-11-07T19:27:02Z</dcterms:modified>
</cp:coreProperties>
</file>